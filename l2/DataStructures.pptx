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1" r:id="rId6"/>
    <p:sldId id="267" r:id="rId7"/>
    <p:sldId id="268" r:id="rId8"/>
    <p:sldId id="260" r:id="rId9"/>
    <p:sldId id="269" r:id="rId10"/>
    <p:sldId id="270" r:id="rId11"/>
    <p:sldId id="271" r:id="rId12"/>
    <p:sldId id="265" r:id="rId13"/>
    <p:sldId id="266" r:id="rId14"/>
  </p:sldIdLst>
  <p:sldSz cx="18288000" cy="10287000"/>
  <p:notesSz cx="6858000" cy="9144000"/>
  <p:embeddedFontLst>
    <p:embeddedFont>
      <p:font typeface="DM Sans" pitchFamily="2" charset="0"/>
      <p:regular r:id="rId15"/>
    </p:embeddedFont>
    <p:embeddedFont>
      <p:font typeface="DM Sans Bold"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svg"/><Relationship Id="rId29"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23.sv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30.png"/><Relationship Id="rId3" Type="http://schemas.openxmlformats.org/officeDocument/2006/relationships/image" Target="../media/image8.png"/><Relationship Id="rId7" Type="http://schemas.openxmlformats.org/officeDocument/2006/relationships/image" Target="../media/image14.png"/><Relationship Id="rId12"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26.png"/><Relationship Id="rId5" Type="http://schemas.openxmlformats.org/officeDocument/2006/relationships/image" Target="../media/image10.png"/><Relationship Id="rId10" Type="http://schemas.openxmlformats.org/officeDocument/2006/relationships/image" Target="../media/image21.svg"/><Relationship Id="rId4" Type="http://schemas.openxmlformats.org/officeDocument/2006/relationships/image" Target="../media/image9.svg"/><Relationship Id="rId9"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4.png"/><Relationship Id="rId7" Type="http://schemas.openxmlformats.org/officeDocument/2006/relationships/image" Target="../media/image24.png"/><Relationship Id="rId12" Type="http://schemas.openxmlformats.org/officeDocument/2006/relationships/image" Target="../media/image3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31.jpeg"/><Relationship Id="rId5" Type="http://schemas.openxmlformats.org/officeDocument/2006/relationships/image" Target="../media/image16.png"/><Relationship Id="rId10" Type="http://schemas.openxmlformats.org/officeDocument/2006/relationships/image" Target="../media/image29.svg"/><Relationship Id="rId4" Type="http://schemas.openxmlformats.org/officeDocument/2006/relationships/image" Target="../media/image5.svg"/><Relationship Id="rId9" Type="http://schemas.openxmlformats.org/officeDocument/2006/relationships/image" Target="../media/image28.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21.sv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27.sv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27.svg"/></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20.png"/><Relationship Id="rId18" Type="http://schemas.openxmlformats.org/officeDocument/2006/relationships/image" Target="../media/image29.svg"/><Relationship Id="rId3" Type="http://schemas.openxmlformats.org/officeDocument/2006/relationships/image" Target="../media/image2.png"/><Relationship Id="rId21" Type="http://schemas.openxmlformats.org/officeDocument/2006/relationships/image" Target="../media/image36.png"/><Relationship Id="rId7" Type="http://schemas.openxmlformats.org/officeDocument/2006/relationships/image" Target="../media/image10.png"/><Relationship Id="rId12" Type="http://schemas.openxmlformats.org/officeDocument/2006/relationships/image" Target="../media/image17.svg"/><Relationship Id="rId17" Type="http://schemas.openxmlformats.org/officeDocument/2006/relationships/image" Target="../media/image28.png"/><Relationship Id="rId2" Type="http://schemas.openxmlformats.org/officeDocument/2006/relationships/image" Target="../media/image1.png"/><Relationship Id="rId16" Type="http://schemas.openxmlformats.org/officeDocument/2006/relationships/image" Target="../media/image25.svg"/><Relationship Id="rId20"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6.png"/><Relationship Id="rId5" Type="http://schemas.openxmlformats.org/officeDocument/2006/relationships/image" Target="../media/image8.png"/><Relationship Id="rId15" Type="http://schemas.openxmlformats.org/officeDocument/2006/relationships/image" Target="../media/image24.png"/><Relationship Id="rId10" Type="http://schemas.openxmlformats.org/officeDocument/2006/relationships/image" Target="../media/image15.svg"/><Relationship Id="rId19" Type="http://schemas.openxmlformats.org/officeDocument/2006/relationships/image" Target="../media/image34.png"/><Relationship Id="rId4" Type="http://schemas.openxmlformats.org/officeDocument/2006/relationships/image" Target="../media/image3.svg"/><Relationship Id="rId9" Type="http://schemas.openxmlformats.org/officeDocument/2006/relationships/image" Target="../media/image14.png"/><Relationship Id="rId1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18" Type="http://schemas.openxmlformats.org/officeDocument/2006/relationships/image" Target="../media/image19.svg"/><Relationship Id="rId26" Type="http://schemas.openxmlformats.org/officeDocument/2006/relationships/image" Target="../media/image27.svg"/><Relationship Id="rId3" Type="http://schemas.openxmlformats.org/officeDocument/2006/relationships/image" Target="../media/image2.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image" Target="../media/image1.png"/><Relationship Id="rId16" Type="http://schemas.openxmlformats.org/officeDocument/2006/relationships/image" Target="../media/image17.svg"/><Relationship Id="rId20"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2.png"/><Relationship Id="rId24" Type="http://schemas.openxmlformats.org/officeDocument/2006/relationships/image" Target="../media/image25.svg"/><Relationship Id="rId5" Type="http://schemas.openxmlformats.org/officeDocument/2006/relationships/image" Target="../media/image4.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sv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0.png"/><Relationship Id="rId14" Type="http://schemas.openxmlformats.org/officeDocument/2006/relationships/image" Target="../media/image15.svg"/><Relationship Id="rId22" Type="http://schemas.openxmlformats.org/officeDocument/2006/relationships/image" Target="../media/image23.svg"/><Relationship Id="rId2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3" name="Freeform 3"/>
          <p:cNvSpPr/>
          <p:nvPr/>
        </p:nvSpPr>
        <p:spPr>
          <a:xfrm>
            <a:off x="-2329398" y="861489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6030709" y="9258300"/>
            <a:ext cx="3059829" cy="751049"/>
          </a:xfrm>
          <a:custGeom>
            <a:avLst/>
            <a:gdLst/>
            <a:ahLst/>
            <a:cxnLst/>
            <a:rect l="l" t="t" r="r" b="b"/>
            <a:pathLst>
              <a:path w="3059829" h="75104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236705" y="6409875"/>
            <a:ext cx="724985" cy="920616"/>
          </a:xfrm>
          <a:custGeom>
            <a:avLst/>
            <a:gdLst/>
            <a:ahLst/>
            <a:cxnLst/>
            <a:rect l="l" t="t" r="r" b="b"/>
            <a:pathLst>
              <a:path w="724985" h="920616">
                <a:moveTo>
                  <a:pt x="0" y="0"/>
                </a:moveTo>
                <a:lnTo>
                  <a:pt x="724986" y="0"/>
                </a:lnTo>
                <a:lnTo>
                  <a:pt x="724986"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14215205"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12686214" y="-2578193"/>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a:off x="10138935"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a:off x="7409323" y="-2700100"/>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rot="4747568">
            <a:off x="-2859877" y="3556629"/>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sp>
      <p:sp>
        <p:nvSpPr>
          <p:cNvPr id="12" name="Freeform 12"/>
          <p:cNvSpPr/>
          <p:nvPr/>
        </p:nvSpPr>
        <p:spPr>
          <a:xfrm>
            <a:off x="4831481" y="-1626507"/>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sp>
      <p:sp>
        <p:nvSpPr>
          <p:cNvPr id="13" name="Freeform 13"/>
          <p:cNvSpPr/>
          <p:nvPr/>
        </p:nvSpPr>
        <p:spPr>
          <a:xfrm>
            <a:off x="17259300" y="2262342"/>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sp>
      <p:sp>
        <p:nvSpPr>
          <p:cNvPr id="14" name="Freeform 14"/>
          <p:cNvSpPr/>
          <p:nvPr/>
        </p:nvSpPr>
        <p:spPr>
          <a:xfrm>
            <a:off x="2570549" y="9093737"/>
            <a:ext cx="2587020" cy="2386526"/>
          </a:xfrm>
          <a:custGeom>
            <a:avLst/>
            <a:gdLst/>
            <a:ahLst/>
            <a:cxnLst/>
            <a:rect l="l" t="t" r="r" b="b"/>
            <a:pathLst>
              <a:path w="2587020" h="2386526">
                <a:moveTo>
                  <a:pt x="0" y="0"/>
                </a:moveTo>
                <a:lnTo>
                  <a:pt x="2587020" y="0"/>
                </a:lnTo>
                <a:lnTo>
                  <a:pt x="2587020" y="2386526"/>
                </a:lnTo>
                <a:lnTo>
                  <a:pt x="0" y="2386526"/>
                </a:lnTo>
                <a:lnTo>
                  <a:pt x="0" y="0"/>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sp>
      <p:sp>
        <p:nvSpPr>
          <p:cNvPr id="15" name="Freeform 15"/>
          <p:cNvSpPr/>
          <p:nvPr/>
        </p:nvSpPr>
        <p:spPr>
          <a:xfrm rot="-5282649">
            <a:off x="16440369" y="6970869"/>
            <a:ext cx="3382987" cy="1154444"/>
          </a:xfrm>
          <a:custGeom>
            <a:avLst/>
            <a:gdLst/>
            <a:ahLst/>
            <a:cxnLst/>
            <a:rect l="l" t="t" r="r" b="b"/>
            <a:pathLst>
              <a:path w="3382987" h="1154444">
                <a:moveTo>
                  <a:pt x="0" y="0"/>
                </a:moveTo>
                <a:lnTo>
                  <a:pt x="3382987" y="0"/>
                </a:lnTo>
                <a:lnTo>
                  <a:pt x="3382987" y="1154445"/>
                </a:lnTo>
                <a:lnTo>
                  <a:pt x="0" y="1154445"/>
                </a:lnTo>
                <a:lnTo>
                  <a:pt x="0" y="0"/>
                </a:lnTo>
                <a:close/>
              </a:path>
            </a:pathLst>
          </a:custGeom>
          <a:blipFill>
            <a:blip r:embed="rId27">
              <a:extLst>
                <a:ext uri="{96DAC541-7B7A-43D3-8B79-37D633B846F1}">
                  <asvg:svgBlip xmlns:asvg="http://schemas.microsoft.com/office/drawing/2016/SVG/main" r:embed="rId28"/>
                </a:ext>
              </a:extLst>
            </a:blip>
            <a:stretch>
              <a:fillRect/>
            </a:stretch>
          </a:blipFill>
          <a:ln cap="sq">
            <a:noFill/>
            <a:prstDash val="solid"/>
            <a:miter/>
          </a:ln>
        </p:spPr>
      </p:sp>
      <p:sp>
        <p:nvSpPr>
          <p:cNvPr id="16" name="Freeform 16"/>
          <p:cNvSpPr/>
          <p:nvPr/>
        </p:nvSpPr>
        <p:spPr>
          <a:xfrm>
            <a:off x="16978638" y="-642644"/>
            <a:ext cx="3104522" cy="3342688"/>
          </a:xfrm>
          <a:custGeom>
            <a:avLst/>
            <a:gdLst/>
            <a:ahLst/>
            <a:cxnLst/>
            <a:rect l="l" t="t" r="r" b="b"/>
            <a:pathLst>
              <a:path w="3104522" h="3342688">
                <a:moveTo>
                  <a:pt x="0" y="0"/>
                </a:moveTo>
                <a:lnTo>
                  <a:pt x="3104522" y="0"/>
                </a:lnTo>
                <a:lnTo>
                  <a:pt x="3104522" y="3342688"/>
                </a:lnTo>
                <a:lnTo>
                  <a:pt x="0" y="3342688"/>
                </a:lnTo>
                <a:lnTo>
                  <a:pt x="0" y="0"/>
                </a:lnTo>
                <a:close/>
              </a:path>
            </a:pathLst>
          </a:custGeom>
          <a:blipFill>
            <a:blip r:embed="rId29">
              <a:extLst>
                <a:ext uri="{96DAC541-7B7A-43D3-8B79-37D633B846F1}">
                  <asvg:svgBlip xmlns:asvg="http://schemas.microsoft.com/office/drawing/2016/SVG/main" r:embed="rId30"/>
                </a:ext>
              </a:extLst>
            </a:blip>
            <a:stretch>
              <a:fillRect/>
            </a:stretch>
          </a:blipFill>
          <a:ln cap="sq">
            <a:noFill/>
            <a:prstDash val="solid"/>
            <a:miter/>
          </a:ln>
        </p:spPr>
      </p:sp>
      <p:sp>
        <p:nvSpPr>
          <p:cNvPr id="17" name="TextBox 17"/>
          <p:cNvSpPr txBox="1"/>
          <p:nvPr/>
        </p:nvSpPr>
        <p:spPr>
          <a:xfrm>
            <a:off x="3688802" y="3136543"/>
            <a:ext cx="10910396" cy="3214213"/>
          </a:xfrm>
          <a:prstGeom prst="rect">
            <a:avLst/>
          </a:prstGeom>
        </p:spPr>
        <p:txBody>
          <a:bodyPr lIns="0" tIns="0" rIns="0" bIns="0" rtlCol="0" anchor="t">
            <a:spAutoFit/>
          </a:bodyPr>
          <a:lstStyle/>
          <a:p>
            <a:pPr algn="ctr">
              <a:lnSpc>
                <a:spcPts val="12218"/>
              </a:lnSpc>
            </a:pPr>
            <a:r>
              <a:rPr lang="en-US" sz="12998" b="1" dirty="0">
                <a:solidFill>
                  <a:srgbClr val="000000"/>
                </a:solidFill>
                <a:latin typeface="DM Sans Bold"/>
                <a:ea typeface="DM Sans Bold"/>
                <a:cs typeface="DM Sans Bold"/>
                <a:sym typeface="DM Sans Bold"/>
              </a:rPr>
              <a:t>Data Structures</a:t>
            </a:r>
          </a:p>
        </p:txBody>
      </p:sp>
      <p:sp>
        <p:nvSpPr>
          <p:cNvPr id="18" name="TextBox 18"/>
          <p:cNvSpPr txBox="1"/>
          <p:nvPr/>
        </p:nvSpPr>
        <p:spPr>
          <a:xfrm>
            <a:off x="4914102" y="6624033"/>
            <a:ext cx="8459795" cy="583686"/>
          </a:xfrm>
          <a:prstGeom prst="rect">
            <a:avLst/>
          </a:prstGeom>
        </p:spPr>
        <p:txBody>
          <a:bodyPr lIns="0" tIns="0" rIns="0" bIns="0" rtlCol="0" anchor="t">
            <a:spAutoFit/>
          </a:bodyPr>
          <a:lstStyle/>
          <a:p>
            <a:pPr algn="ctr">
              <a:lnSpc>
                <a:spcPts val="4381"/>
              </a:lnSpc>
            </a:pPr>
            <a:r>
              <a:rPr lang="en-US" sz="4381" b="1" spc="-87" dirty="0">
                <a:solidFill>
                  <a:srgbClr val="000000"/>
                </a:solidFill>
                <a:latin typeface="DM Sans Bold"/>
                <a:ea typeface="DM Sans Bold"/>
                <a:cs typeface="DM Sans Bold"/>
                <a:sym typeface="DM Sans Bold"/>
              </a:rPr>
              <a:t>Presented by </a:t>
            </a:r>
            <a:r>
              <a:rPr lang="en-US" sz="4381" b="1" spc="-87" dirty="0" err="1">
                <a:solidFill>
                  <a:srgbClr val="000000"/>
                </a:solidFill>
                <a:latin typeface="DM Sans Bold"/>
                <a:ea typeface="DM Sans Bold"/>
                <a:cs typeface="DM Sans Bold"/>
                <a:sym typeface="DM Sans Bold"/>
              </a:rPr>
              <a:t>Sathiyan</a:t>
            </a:r>
            <a:r>
              <a:rPr lang="en-US" sz="4381" b="1" spc="-87" dirty="0">
                <a:solidFill>
                  <a:srgbClr val="000000"/>
                </a:solidFill>
                <a:latin typeface="DM Sans Bold"/>
                <a:ea typeface="DM Sans Bold"/>
                <a:cs typeface="DM Sans Bold"/>
                <a:sym typeface="DM Sans Bold"/>
              </a:rPr>
              <a:t> R</a:t>
            </a:r>
          </a:p>
        </p:txBody>
      </p:sp>
      <p:sp>
        <p:nvSpPr>
          <p:cNvPr id="19" name="Freeform 19"/>
          <p:cNvSpPr/>
          <p:nvPr/>
        </p:nvSpPr>
        <p:spPr>
          <a:xfrm>
            <a:off x="4737926" y="2576219"/>
            <a:ext cx="724985" cy="920616"/>
          </a:xfrm>
          <a:custGeom>
            <a:avLst/>
            <a:gdLst/>
            <a:ahLst/>
            <a:cxnLst/>
            <a:rect l="l" t="t" r="r" b="b"/>
            <a:pathLst>
              <a:path w="724985" h="920616">
                <a:moveTo>
                  <a:pt x="0" y="0"/>
                </a:moveTo>
                <a:lnTo>
                  <a:pt x="724985" y="0"/>
                </a:lnTo>
                <a:lnTo>
                  <a:pt x="724985"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4" name="TextBox 4"/>
          <p:cNvSpPr txBox="1"/>
          <p:nvPr/>
        </p:nvSpPr>
        <p:spPr>
          <a:xfrm>
            <a:off x="1504950" y="2345718"/>
            <a:ext cx="7848753" cy="228222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What is Data Structure?</a:t>
            </a:r>
          </a:p>
        </p:txBody>
      </p:sp>
      <p:sp>
        <p:nvSpPr>
          <p:cNvPr id="5" name="TextBox 5"/>
          <p:cNvSpPr txBox="1"/>
          <p:nvPr/>
        </p:nvSpPr>
        <p:spPr>
          <a:xfrm>
            <a:off x="1504950" y="4807557"/>
            <a:ext cx="7707571" cy="2064155"/>
          </a:xfrm>
          <a:prstGeom prst="rect">
            <a:avLst/>
          </a:prstGeom>
        </p:spPr>
        <p:txBody>
          <a:bodyPr lIns="0" tIns="0" rIns="0" bIns="0" rtlCol="0" anchor="t">
            <a:spAutoFit/>
          </a:bodyPr>
          <a:lstStyle/>
          <a:p>
            <a:pPr marL="0" lvl="0" indent="0" algn="l">
              <a:lnSpc>
                <a:spcPts val="2699"/>
              </a:lnSpc>
              <a:spcBef>
                <a:spcPct val="0"/>
              </a:spcBef>
            </a:pPr>
            <a:r>
              <a:rPr lang="en-US" sz="1999" u="none" spc="119" dirty="0">
                <a:solidFill>
                  <a:srgbClr val="000000"/>
                </a:solidFill>
                <a:latin typeface="DM Sans"/>
                <a:ea typeface="DM Sans"/>
                <a:cs typeface="DM Sans"/>
                <a:sym typeface="DM Sans"/>
              </a:rPr>
              <a:t>A data structure is a way of organizing, managing, and storing data so it can be accessed and modified efficiently. Data structures define the layout and strategy for storing different types of data, and each data structure is suited to specific types of operations and tasks.</a:t>
            </a:r>
          </a:p>
        </p:txBody>
      </p:sp>
      <p:sp>
        <p:nvSpPr>
          <p:cNvPr id="6" name="Freeform 6"/>
          <p:cNvSpPr/>
          <p:nvPr/>
        </p:nvSpPr>
        <p:spPr>
          <a:xfrm>
            <a:off x="15353489"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7" name="Freeform 7"/>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8" name="Freeform 8"/>
          <p:cNvSpPr/>
          <p:nvPr/>
        </p:nvSpPr>
        <p:spPr>
          <a:xfrm>
            <a:off x="9144000"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9" name="Freeform 9"/>
          <p:cNvSpPr/>
          <p:nvPr/>
        </p:nvSpPr>
        <p:spPr>
          <a:xfrm>
            <a:off x="5003948" y="-1890601"/>
            <a:ext cx="2892762" cy="2919301"/>
          </a:xfrm>
          <a:custGeom>
            <a:avLst/>
            <a:gdLst/>
            <a:ahLst/>
            <a:cxnLst/>
            <a:rect l="l" t="t" r="r" b="b"/>
            <a:pathLst>
              <a:path w="2892762" h="2919301">
                <a:moveTo>
                  <a:pt x="0" y="0"/>
                </a:moveTo>
                <a:lnTo>
                  <a:pt x="2892762" y="0"/>
                </a:lnTo>
                <a:lnTo>
                  <a:pt x="2892762" y="2919301"/>
                </a:lnTo>
                <a:lnTo>
                  <a:pt x="0" y="2919301"/>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10" name="Freeform 10"/>
          <p:cNvSpPr/>
          <p:nvPr/>
        </p:nvSpPr>
        <p:spPr>
          <a:xfrm rot="-5282649">
            <a:off x="16004285" y="265374"/>
            <a:ext cx="4017207" cy="1370872"/>
          </a:xfrm>
          <a:custGeom>
            <a:avLst/>
            <a:gdLst/>
            <a:ahLst/>
            <a:cxnLst/>
            <a:rect l="l" t="t" r="r" b="b"/>
            <a:pathLst>
              <a:path w="4017207" h="1370872">
                <a:moveTo>
                  <a:pt x="0" y="0"/>
                </a:moveTo>
                <a:lnTo>
                  <a:pt x="4017207" y="0"/>
                </a:lnTo>
                <a:lnTo>
                  <a:pt x="4017207" y="1370872"/>
                </a:lnTo>
                <a:lnTo>
                  <a:pt x="0" y="1370872"/>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pic>
        <p:nvPicPr>
          <p:cNvPr id="1028" name="Picture 4" descr="Data Structures Tutorial - GeeksforGeeks">
            <a:extLst>
              <a:ext uri="{FF2B5EF4-FFF2-40B4-BE49-F238E27FC236}">
                <a16:creationId xmlns:a16="http://schemas.microsoft.com/office/drawing/2014/main" id="{389C163E-3F61-0EDC-E161-AF46EB949D3C}"/>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52202"/>
          <a:stretch/>
        </p:blipFill>
        <p:spPr bwMode="auto">
          <a:xfrm>
            <a:off x="10515600" y="1995961"/>
            <a:ext cx="6265221" cy="65537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3" name="TextBox 3"/>
          <p:cNvSpPr txBox="1"/>
          <p:nvPr/>
        </p:nvSpPr>
        <p:spPr>
          <a:xfrm>
            <a:off x="1504950" y="1333500"/>
            <a:ext cx="7639050" cy="3397918"/>
          </a:xfrm>
          <a:prstGeom prst="rect">
            <a:avLst/>
          </a:prstGeom>
        </p:spPr>
        <p:txBody>
          <a:bodyPr wrap="square"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Classification of Data Structures</a:t>
            </a:r>
          </a:p>
        </p:txBody>
      </p:sp>
      <p:grpSp>
        <p:nvGrpSpPr>
          <p:cNvPr id="5" name="Group 5"/>
          <p:cNvGrpSpPr/>
          <p:nvPr/>
        </p:nvGrpSpPr>
        <p:grpSpPr>
          <a:xfrm>
            <a:off x="9975489" y="1170261"/>
            <a:ext cx="6998061" cy="2561528"/>
            <a:chOff x="0" y="0"/>
            <a:chExt cx="2342659" cy="857492"/>
          </a:xfrm>
        </p:grpSpPr>
        <p:sp>
          <p:nvSpPr>
            <p:cNvPr id="6" name="Freeform 6"/>
            <p:cNvSpPr/>
            <p:nvPr/>
          </p:nvSpPr>
          <p:spPr>
            <a:xfrm>
              <a:off x="0" y="0"/>
              <a:ext cx="2342659" cy="857492"/>
            </a:xfrm>
            <a:custGeom>
              <a:avLst/>
              <a:gdLst/>
              <a:ahLst/>
              <a:cxnLst/>
              <a:rect l="l" t="t" r="r" b="b"/>
              <a:pathLst>
                <a:path w="2342659" h="857492">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id="7" name="TextBox 7"/>
            <p:cNvSpPr txBox="1"/>
            <p:nvPr/>
          </p:nvSpPr>
          <p:spPr>
            <a:xfrm>
              <a:off x="0" y="85725"/>
              <a:ext cx="2342659" cy="771767"/>
            </a:xfrm>
            <a:prstGeom prst="rect">
              <a:avLst/>
            </a:prstGeom>
          </p:spPr>
          <p:txBody>
            <a:bodyPr lIns="50800" tIns="50800" rIns="50800" bIns="50800" rtlCol="0" anchor="ctr"/>
            <a:lstStyle/>
            <a:p>
              <a:pPr algn="ctr">
                <a:lnSpc>
                  <a:spcPts val="1925"/>
                </a:lnSpc>
              </a:pPr>
              <a:endParaRPr/>
            </a:p>
          </p:txBody>
        </p:sp>
      </p:grpSp>
      <p:sp>
        <p:nvSpPr>
          <p:cNvPr id="8" name="TextBox 8"/>
          <p:cNvSpPr txBox="1"/>
          <p:nvPr/>
        </p:nvSpPr>
        <p:spPr>
          <a:xfrm>
            <a:off x="10491672" y="2024301"/>
            <a:ext cx="1578952" cy="1034423"/>
          </a:xfrm>
          <a:prstGeom prst="rect">
            <a:avLst/>
          </a:prstGeom>
        </p:spPr>
        <p:txBody>
          <a:bodyPr lIns="0" tIns="0" rIns="0" bIns="0" rtlCol="0" anchor="t">
            <a:spAutoFit/>
          </a:bodyPr>
          <a:lstStyle/>
          <a:p>
            <a:pPr algn="l">
              <a:lnSpc>
                <a:spcPts val="7680"/>
              </a:lnSpc>
            </a:pPr>
            <a:r>
              <a:rPr lang="en-US" sz="8000" spc="-656" dirty="0">
                <a:solidFill>
                  <a:srgbClr val="000000"/>
                </a:solidFill>
                <a:latin typeface="DM Sans"/>
                <a:ea typeface="DM Sans"/>
                <a:cs typeface="DM Sans"/>
                <a:sym typeface="DM Sans"/>
              </a:rPr>
              <a:t>01.</a:t>
            </a:r>
          </a:p>
        </p:txBody>
      </p:sp>
      <p:grpSp>
        <p:nvGrpSpPr>
          <p:cNvPr id="9" name="Group 9"/>
          <p:cNvGrpSpPr/>
          <p:nvPr/>
        </p:nvGrpSpPr>
        <p:grpSpPr>
          <a:xfrm>
            <a:off x="9975489" y="3862348"/>
            <a:ext cx="6998061" cy="2561528"/>
            <a:chOff x="0" y="0"/>
            <a:chExt cx="2342659" cy="857492"/>
          </a:xfrm>
        </p:grpSpPr>
        <p:sp>
          <p:nvSpPr>
            <p:cNvPr id="10" name="Freeform 10"/>
            <p:cNvSpPr/>
            <p:nvPr/>
          </p:nvSpPr>
          <p:spPr>
            <a:xfrm>
              <a:off x="0" y="0"/>
              <a:ext cx="2342659" cy="857492"/>
            </a:xfrm>
            <a:custGeom>
              <a:avLst/>
              <a:gdLst/>
              <a:ahLst/>
              <a:cxnLst/>
              <a:rect l="l" t="t" r="r" b="b"/>
              <a:pathLst>
                <a:path w="2342659" h="857492">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id="11" name="TextBox 11"/>
            <p:cNvSpPr txBox="1"/>
            <p:nvPr/>
          </p:nvSpPr>
          <p:spPr>
            <a:xfrm>
              <a:off x="0" y="85725"/>
              <a:ext cx="2342659" cy="771767"/>
            </a:xfrm>
            <a:prstGeom prst="rect">
              <a:avLst/>
            </a:prstGeom>
          </p:spPr>
          <p:txBody>
            <a:bodyPr lIns="50800" tIns="50800" rIns="50800" bIns="50800" rtlCol="0" anchor="ctr"/>
            <a:lstStyle/>
            <a:p>
              <a:pPr algn="ctr">
                <a:lnSpc>
                  <a:spcPts val="1925"/>
                </a:lnSpc>
              </a:pPr>
              <a:endParaRPr/>
            </a:p>
          </p:txBody>
        </p:sp>
      </p:grpSp>
      <p:grpSp>
        <p:nvGrpSpPr>
          <p:cNvPr id="12" name="Group 12"/>
          <p:cNvGrpSpPr/>
          <p:nvPr/>
        </p:nvGrpSpPr>
        <p:grpSpPr>
          <a:xfrm>
            <a:off x="9975489" y="6557226"/>
            <a:ext cx="6998061" cy="2561528"/>
            <a:chOff x="0" y="0"/>
            <a:chExt cx="2342659" cy="857492"/>
          </a:xfrm>
        </p:grpSpPr>
        <p:sp>
          <p:nvSpPr>
            <p:cNvPr id="13" name="Freeform 13"/>
            <p:cNvSpPr/>
            <p:nvPr/>
          </p:nvSpPr>
          <p:spPr>
            <a:xfrm>
              <a:off x="0" y="0"/>
              <a:ext cx="2342659" cy="857492"/>
            </a:xfrm>
            <a:custGeom>
              <a:avLst/>
              <a:gdLst/>
              <a:ahLst/>
              <a:cxnLst/>
              <a:rect l="l" t="t" r="r" b="b"/>
              <a:pathLst>
                <a:path w="2342659" h="857492">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id="14" name="TextBox 14"/>
            <p:cNvSpPr txBox="1"/>
            <p:nvPr/>
          </p:nvSpPr>
          <p:spPr>
            <a:xfrm>
              <a:off x="0" y="85725"/>
              <a:ext cx="2342659" cy="771767"/>
            </a:xfrm>
            <a:prstGeom prst="rect">
              <a:avLst/>
            </a:prstGeom>
          </p:spPr>
          <p:txBody>
            <a:bodyPr lIns="50800" tIns="50800" rIns="50800" bIns="50800" rtlCol="0" anchor="ctr"/>
            <a:lstStyle/>
            <a:p>
              <a:pPr algn="ctr">
                <a:lnSpc>
                  <a:spcPts val="1925"/>
                </a:lnSpc>
              </a:pPr>
              <a:endParaRPr/>
            </a:p>
          </p:txBody>
        </p:sp>
      </p:grpSp>
      <p:sp>
        <p:nvSpPr>
          <p:cNvPr id="15" name="TextBox 15"/>
          <p:cNvSpPr txBox="1"/>
          <p:nvPr/>
        </p:nvSpPr>
        <p:spPr>
          <a:xfrm>
            <a:off x="10491672" y="4717783"/>
            <a:ext cx="1578952" cy="1034423"/>
          </a:xfrm>
          <a:prstGeom prst="rect">
            <a:avLst/>
          </a:prstGeom>
        </p:spPr>
        <p:txBody>
          <a:bodyPr lIns="0" tIns="0" rIns="0" bIns="0" rtlCol="0" anchor="t">
            <a:spAutoFit/>
          </a:bodyPr>
          <a:lstStyle/>
          <a:p>
            <a:pPr algn="l">
              <a:lnSpc>
                <a:spcPts val="7680"/>
              </a:lnSpc>
            </a:pPr>
            <a:r>
              <a:rPr lang="en-US" sz="8000" spc="-656">
                <a:solidFill>
                  <a:srgbClr val="000000"/>
                </a:solidFill>
                <a:latin typeface="DM Sans"/>
                <a:ea typeface="DM Sans"/>
                <a:cs typeface="DM Sans"/>
                <a:sym typeface="DM Sans"/>
              </a:rPr>
              <a:t>02.</a:t>
            </a:r>
          </a:p>
        </p:txBody>
      </p:sp>
      <p:sp>
        <p:nvSpPr>
          <p:cNvPr id="16" name="TextBox 16"/>
          <p:cNvSpPr txBox="1"/>
          <p:nvPr/>
        </p:nvSpPr>
        <p:spPr>
          <a:xfrm>
            <a:off x="10491672" y="7411266"/>
            <a:ext cx="1578952" cy="1034423"/>
          </a:xfrm>
          <a:prstGeom prst="rect">
            <a:avLst/>
          </a:prstGeom>
        </p:spPr>
        <p:txBody>
          <a:bodyPr lIns="0" tIns="0" rIns="0" bIns="0" rtlCol="0" anchor="t">
            <a:spAutoFit/>
          </a:bodyPr>
          <a:lstStyle/>
          <a:p>
            <a:pPr algn="l">
              <a:lnSpc>
                <a:spcPts val="7680"/>
              </a:lnSpc>
            </a:pPr>
            <a:r>
              <a:rPr lang="en-US" sz="8000" spc="-656">
                <a:solidFill>
                  <a:srgbClr val="000000"/>
                </a:solidFill>
                <a:latin typeface="DM Sans"/>
                <a:ea typeface="DM Sans"/>
                <a:cs typeface="DM Sans"/>
                <a:sym typeface="DM Sans"/>
              </a:rPr>
              <a:t>03.</a:t>
            </a:r>
          </a:p>
        </p:txBody>
      </p:sp>
      <p:sp>
        <p:nvSpPr>
          <p:cNvPr id="17" name="TextBox 17"/>
          <p:cNvSpPr txBox="1"/>
          <p:nvPr/>
        </p:nvSpPr>
        <p:spPr>
          <a:xfrm>
            <a:off x="12070624" y="2566521"/>
            <a:ext cx="4132127" cy="426463"/>
          </a:xfrm>
          <a:prstGeom prst="rect">
            <a:avLst/>
          </a:prstGeom>
        </p:spPr>
        <p:txBody>
          <a:bodyPr wrap="square" lIns="0" tIns="0" rIns="0" bIns="0" rtlCol="0" anchor="t">
            <a:spAutoFit/>
          </a:bodyPr>
          <a:lstStyle/>
          <a:p>
            <a:pPr marL="0" lvl="0" indent="0" algn="just">
              <a:lnSpc>
                <a:spcPts val="1890"/>
              </a:lnSpc>
              <a:spcBef>
                <a:spcPct val="0"/>
              </a:spcBef>
            </a:pPr>
            <a:r>
              <a:rPr lang="en-US" sz="7200" dirty="0">
                <a:sym typeface="DM Sans"/>
              </a:rPr>
              <a:t>Linear</a:t>
            </a:r>
            <a:r>
              <a:rPr lang="en-US" sz="4400" dirty="0">
                <a:sym typeface="DM Sans"/>
              </a:rPr>
              <a:t> </a:t>
            </a:r>
          </a:p>
        </p:txBody>
      </p:sp>
      <p:sp>
        <p:nvSpPr>
          <p:cNvPr id="20" name="Freeform 20"/>
          <p:cNvSpPr/>
          <p:nvPr/>
        </p:nvSpPr>
        <p:spPr>
          <a:xfrm>
            <a:off x="-848571" y="8919661"/>
            <a:ext cx="3870946" cy="950141"/>
          </a:xfrm>
          <a:custGeom>
            <a:avLst/>
            <a:gdLst/>
            <a:ahLst/>
            <a:cxnLst/>
            <a:rect l="l" t="t" r="r" b="b"/>
            <a:pathLst>
              <a:path w="3870946" h="950141">
                <a:moveTo>
                  <a:pt x="0" y="0"/>
                </a:moveTo>
                <a:lnTo>
                  <a:pt x="3870946" y="0"/>
                </a:lnTo>
                <a:lnTo>
                  <a:pt x="3870946" y="950141"/>
                </a:lnTo>
                <a:lnTo>
                  <a:pt x="0" y="9501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a:off x="4472906" y="-2364815"/>
            <a:ext cx="4980952" cy="3731186"/>
          </a:xfrm>
          <a:custGeom>
            <a:avLst/>
            <a:gdLst/>
            <a:ahLst/>
            <a:cxnLst/>
            <a:rect l="l" t="t" r="r" b="b"/>
            <a:pathLst>
              <a:path w="4980952" h="3731186">
                <a:moveTo>
                  <a:pt x="0" y="0"/>
                </a:moveTo>
                <a:lnTo>
                  <a:pt x="4980951" y="0"/>
                </a:lnTo>
                <a:lnTo>
                  <a:pt x="4980951"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22" name="Freeform 22"/>
          <p:cNvSpPr/>
          <p:nvPr/>
        </p:nvSpPr>
        <p:spPr>
          <a:xfrm>
            <a:off x="3431074" y="8919661"/>
            <a:ext cx="2587020" cy="2386526"/>
          </a:xfrm>
          <a:custGeom>
            <a:avLst/>
            <a:gdLst/>
            <a:ahLst/>
            <a:cxnLst/>
            <a:rect l="l" t="t" r="r" b="b"/>
            <a:pathLst>
              <a:path w="2587020" h="2386526">
                <a:moveTo>
                  <a:pt x="0" y="0"/>
                </a:moveTo>
                <a:lnTo>
                  <a:pt x="2587019" y="0"/>
                </a:lnTo>
                <a:lnTo>
                  <a:pt x="2587019" y="2386525"/>
                </a:lnTo>
                <a:lnTo>
                  <a:pt x="0" y="2386525"/>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23" name="Freeform 23"/>
          <p:cNvSpPr/>
          <p:nvPr/>
        </p:nvSpPr>
        <p:spPr>
          <a:xfrm>
            <a:off x="-848571" y="-744412"/>
            <a:ext cx="2597326" cy="2796583"/>
          </a:xfrm>
          <a:custGeom>
            <a:avLst/>
            <a:gdLst/>
            <a:ahLst/>
            <a:cxnLst/>
            <a:rect l="l" t="t" r="r" b="b"/>
            <a:pathLst>
              <a:path w="2597326" h="2796583">
                <a:moveTo>
                  <a:pt x="0" y="0"/>
                </a:moveTo>
                <a:lnTo>
                  <a:pt x="2597327" y="0"/>
                </a:lnTo>
                <a:lnTo>
                  <a:pt x="2597327"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24" name="TextBox 17">
            <a:extLst>
              <a:ext uri="{FF2B5EF4-FFF2-40B4-BE49-F238E27FC236}">
                <a16:creationId xmlns:a16="http://schemas.microsoft.com/office/drawing/2014/main" id="{5D84EA26-DA88-1CF4-6506-B6A78D00BD0C}"/>
              </a:ext>
            </a:extLst>
          </p:cNvPr>
          <p:cNvSpPr txBox="1"/>
          <p:nvPr/>
        </p:nvSpPr>
        <p:spPr>
          <a:xfrm>
            <a:off x="12070623" y="5234337"/>
            <a:ext cx="4132127" cy="426463"/>
          </a:xfrm>
          <a:prstGeom prst="rect">
            <a:avLst/>
          </a:prstGeom>
        </p:spPr>
        <p:txBody>
          <a:bodyPr wrap="square" lIns="0" tIns="0" rIns="0" bIns="0" rtlCol="0" anchor="t">
            <a:spAutoFit/>
          </a:bodyPr>
          <a:lstStyle/>
          <a:p>
            <a:pPr marL="0" lvl="0" indent="0" algn="just">
              <a:lnSpc>
                <a:spcPts val="1890"/>
              </a:lnSpc>
              <a:spcBef>
                <a:spcPct val="0"/>
              </a:spcBef>
            </a:pPr>
            <a:r>
              <a:rPr lang="en-US" sz="7200" dirty="0">
                <a:sym typeface="DM Sans"/>
              </a:rPr>
              <a:t>Non-Linear</a:t>
            </a:r>
            <a:r>
              <a:rPr lang="en-US" sz="4400" dirty="0">
                <a:sym typeface="DM Sans"/>
              </a:rPr>
              <a:t> </a:t>
            </a:r>
          </a:p>
        </p:txBody>
      </p:sp>
      <p:sp>
        <p:nvSpPr>
          <p:cNvPr id="25" name="TextBox 17">
            <a:extLst>
              <a:ext uri="{FF2B5EF4-FFF2-40B4-BE49-F238E27FC236}">
                <a16:creationId xmlns:a16="http://schemas.microsoft.com/office/drawing/2014/main" id="{DB1F8924-5908-3607-161F-4B5C7249258E}"/>
              </a:ext>
            </a:extLst>
          </p:cNvPr>
          <p:cNvSpPr txBox="1"/>
          <p:nvPr/>
        </p:nvSpPr>
        <p:spPr>
          <a:xfrm>
            <a:off x="12070623" y="7928477"/>
            <a:ext cx="4388577" cy="426463"/>
          </a:xfrm>
          <a:prstGeom prst="rect">
            <a:avLst/>
          </a:prstGeom>
        </p:spPr>
        <p:txBody>
          <a:bodyPr wrap="square" lIns="0" tIns="0" rIns="0" bIns="0" rtlCol="0" anchor="t">
            <a:spAutoFit/>
          </a:bodyPr>
          <a:lstStyle/>
          <a:p>
            <a:pPr marL="0" lvl="0" indent="0" algn="just">
              <a:lnSpc>
                <a:spcPts val="1890"/>
              </a:lnSpc>
              <a:spcBef>
                <a:spcPct val="0"/>
              </a:spcBef>
            </a:pPr>
            <a:r>
              <a:rPr lang="en-US" sz="7200" dirty="0">
                <a:sym typeface="DM Sans"/>
              </a:rPr>
              <a:t>Hash Based</a:t>
            </a:r>
            <a:r>
              <a:rPr lang="en-US" sz="4400" dirty="0">
                <a:sym typeface="DM Sans"/>
              </a:rPr>
              <a:t> </a:t>
            </a:r>
          </a:p>
        </p:txBody>
      </p:sp>
      <p:pic>
        <p:nvPicPr>
          <p:cNvPr id="26" name="Picture 2" descr="How I Mastered Data Structures and Algorithms">
            <a:extLst>
              <a:ext uri="{FF2B5EF4-FFF2-40B4-BE49-F238E27FC236}">
                <a16:creationId xmlns:a16="http://schemas.microsoft.com/office/drawing/2014/main" id="{0A80CA46-5A9D-9799-E3AF-CC48DE8748F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8206" r="31998" b="63060"/>
          <a:stretch/>
        </p:blipFill>
        <p:spPr bwMode="auto">
          <a:xfrm>
            <a:off x="882709" y="4895245"/>
            <a:ext cx="2971801" cy="166980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ow I Mastered Data Structures and Algorithms">
            <a:extLst>
              <a:ext uri="{FF2B5EF4-FFF2-40B4-BE49-F238E27FC236}">
                <a16:creationId xmlns:a16="http://schemas.microsoft.com/office/drawing/2014/main" id="{5BCEE907-0FC9-C9D5-D176-20063086CEC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70043" b="52800"/>
          <a:stretch/>
        </p:blipFill>
        <p:spPr bwMode="auto">
          <a:xfrm>
            <a:off x="6379464" y="4895245"/>
            <a:ext cx="2237075" cy="21336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ash Table Data structure">
            <a:extLst>
              <a:ext uri="{FF2B5EF4-FFF2-40B4-BE49-F238E27FC236}">
                <a16:creationId xmlns:a16="http://schemas.microsoft.com/office/drawing/2014/main" id="{9DB3EFD9-3A71-A6BE-EAB9-8CECB12EA21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15406" y="7309464"/>
            <a:ext cx="5715000" cy="1581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IN" dirty="0"/>
          </a:p>
        </p:txBody>
      </p:sp>
      <p:sp>
        <p:nvSpPr>
          <p:cNvPr id="3" name="Freeform 3"/>
          <p:cNvSpPr/>
          <p:nvPr/>
        </p:nvSpPr>
        <p:spPr>
          <a:xfrm>
            <a:off x="10078075" y="1267971"/>
            <a:ext cx="4208573" cy="4247184"/>
          </a:xfrm>
          <a:custGeom>
            <a:avLst/>
            <a:gdLst/>
            <a:ahLst/>
            <a:cxnLst/>
            <a:rect l="l" t="t" r="r" b="b"/>
            <a:pathLst>
              <a:path w="4208573" h="4247184">
                <a:moveTo>
                  <a:pt x="0" y="0"/>
                </a:moveTo>
                <a:lnTo>
                  <a:pt x="4208574" y="0"/>
                </a:lnTo>
                <a:lnTo>
                  <a:pt x="4208574" y="4247184"/>
                </a:lnTo>
                <a:lnTo>
                  <a:pt x="0" y="424718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TextBox 5"/>
          <p:cNvSpPr txBox="1"/>
          <p:nvPr/>
        </p:nvSpPr>
        <p:spPr>
          <a:xfrm>
            <a:off x="1135667" y="653972"/>
            <a:ext cx="8092094" cy="116653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Array</a:t>
            </a:r>
          </a:p>
        </p:txBody>
      </p:sp>
      <p:pic>
        <p:nvPicPr>
          <p:cNvPr id="3074" name="Picture 2" descr="Array Data Structure Guide - GeeksforGeeks">
            <a:extLst>
              <a:ext uri="{FF2B5EF4-FFF2-40B4-BE49-F238E27FC236}">
                <a16:creationId xmlns:a16="http://schemas.microsoft.com/office/drawing/2014/main" id="{384F35CD-A493-AF74-AFAA-4EEF357FAA2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800" t="16400" r="4400" b="22800"/>
          <a:stretch/>
        </p:blipFill>
        <p:spPr bwMode="auto">
          <a:xfrm>
            <a:off x="10591800" y="2654300"/>
            <a:ext cx="6705600" cy="38608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8E42F54-4B83-F0DD-AC7A-703CBBED71CF}"/>
              </a:ext>
            </a:extLst>
          </p:cNvPr>
          <p:cNvSpPr txBox="1"/>
          <p:nvPr/>
        </p:nvSpPr>
        <p:spPr>
          <a:xfrm>
            <a:off x="1657350" y="1738301"/>
            <a:ext cx="7707571" cy="2719399"/>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Characteristics: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1) Fixed Size</a:t>
            </a:r>
          </a:p>
          <a:p>
            <a:pPr marL="0" lvl="0" indent="0" algn="l">
              <a:lnSpc>
                <a:spcPct val="150000"/>
              </a:lnSpc>
              <a:spcBef>
                <a:spcPct val="0"/>
              </a:spcBef>
            </a:pPr>
            <a:r>
              <a:rPr lang="en-US" sz="2400" spc="119" dirty="0">
                <a:solidFill>
                  <a:srgbClr val="000000"/>
                </a:solidFill>
                <a:latin typeface="DM Sans"/>
                <a:ea typeface="DM Sans"/>
                <a:cs typeface="DM Sans"/>
                <a:sym typeface="DM Sans"/>
              </a:rPr>
              <a:t>2) Indexed Access</a:t>
            </a:r>
            <a:br>
              <a:rPr lang="en-US" sz="2400" spc="119" dirty="0">
                <a:solidFill>
                  <a:srgbClr val="000000"/>
                </a:solidFill>
                <a:latin typeface="DM Sans"/>
                <a:ea typeface="DM Sans"/>
                <a:cs typeface="DM Sans"/>
                <a:sym typeface="DM Sans"/>
              </a:rPr>
            </a:br>
            <a:r>
              <a:rPr lang="en-US" sz="2400" spc="119" dirty="0">
                <a:solidFill>
                  <a:srgbClr val="000000"/>
                </a:solidFill>
                <a:latin typeface="DM Sans"/>
                <a:ea typeface="DM Sans"/>
                <a:cs typeface="DM Sans"/>
                <a:sym typeface="DM Sans"/>
              </a:rPr>
              <a:t>3) Homogenous Elements</a:t>
            </a:r>
            <a:br>
              <a:rPr lang="en-US" sz="2400" spc="119" dirty="0">
                <a:solidFill>
                  <a:srgbClr val="000000"/>
                </a:solidFill>
                <a:latin typeface="DM Sans"/>
                <a:ea typeface="DM Sans"/>
                <a:cs typeface="DM Sans"/>
                <a:sym typeface="DM Sans"/>
              </a:rPr>
            </a:br>
            <a:r>
              <a:rPr lang="en-US" sz="2400" spc="119" dirty="0">
                <a:solidFill>
                  <a:srgbClr val="000000"/>
                </a:solidFill>
                <a:latin typeface="DM Sans"/>
                <a:ea typeface="DM Sans"/>
                <a:cs typeface="DM Sans"/>
                <a:sym typeface="DM Sans"/>
              </a:rPr>
              <a:t>4)Contiguous Memory Allocation </a:t>
            </a:r>
            <a:endParaRPr lang="en-US" sz="2400" u="none" spc="119" dirty="0">
              <a:solidFill>
                <a:srgbClr val="000000"/>
              </a:solidFill>
              <a:latin typeface="DM Sans"/>
              <a:ea typeface="DM Sans"/>
              <a:cs typeface="DM Sans"/>
              <a:sym typeface="DM Sans"/>
            </a:endParaRPr>
          </a:p>
        </p:txBody>
      </p:sp>
      <p:sp>
        <p:nvSpPr>
          <p:cNvPr id="8" name="TextBox 7">
            <a:extLst>
              <a:ext uri="{FF2B5EF4-FFF2-40B4-BE49-F238E27FC236}">
                <a16:creationId xmlns:a16="http://schemas.microsoft.com/office/drawing/2014/main" id="{3508FC4A-0E3C-49E3-5785-7D8BA8585337}"/>
              </a:ext>
            </a:extLst>
          </p:cNvPr>
          <p:cNvSpPr txBox="1"/>
          <p:nvPr/>
        </p:nvSpPr>
        <p:spPr>
          <a:xfrm>
            <a:off x="1657349" y="4502099"/>
            <a:ext cx="7707571" cy="2165401"/>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Operations: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Access – constant time O(1)</a:t>
            </a:r>
          </a:p>
          <a:p>
            <a:pPr marL="0" lvl="0" indent="0" algn="l">
              <a:lnSpc>
                <a:spcPct val="150000"/>
              </a:lnSpc>
              <a:spcBef>
                <a:spcPct val="0"/>
              </a:spcBef>
            </a:pPr>
            <a:r>
              <a:rPr lang="en-US" sz="2400" spc="119" dirty="0">
                <a:solidFill>
                  <a:srgbClr val="000000"/>
                </a:solidFill>
                <a:latin typeface="DM Sans"/>
                <a:ea typeface="DM Sans"/>
                <a:cs typeface="DM Sans"/>
                <a:sym typeface="DM Sans"/>
              </a:rPr>
              <a:t>Insertion – costly (if shifting needed) O(n)</a:t>
            </a:r>
            <a:br>
              <a:rPr lang="en-US" sz="2400" spc="119" dirty="0">
                <a:solidFill>
                  <a:srgbClr val="000000"/>
                </a:solidFill>
                <a:latin typeface="DM Sans"/>
                <a:ea typeface="DM Sans"/>
                <a:cs typeface="DM Sans"/>
                <a:sym typeface="DM Sans"/>
              </a:rPr>
            </a:br>
            <a:r>
              <a:rPr lang="en-US" sz="2400" spc="119" dirty="0">
                <a:solidFill>
                  <a:srgbClr val="000000"/>
                </a:solidFill>
                <a:latin typeface="DM Sans"/>
                <a:ea typeface="DM Sans"/>
                <a:cs typeface="DM Sans"/>
                <a:sym typeface="DM Sans"/>
              </a:rPr>
              <a:t>Deletion – requires shifting O(n)</a:t>
            </a:r>
            <a:endParaRPr lang="en-US" sz="2400" u="none" spc="119" dirty="0">
              <a:solidFill>
                <a:srgbClr val="000000"/>
              </a:solidFill>
              <a:latin typeface="DM Sans"/>
              <a:ea typeface="DM Sans"/>
              <a:cs typeface="DM Sans"/>
              <a:sym typeface="DM Sans"/>
            </a:endParaRPr>
          </a:p>
        </p:txBody>
      </p:sp>
      <p:grpSp>
        <p:nvGrpSpPr>
          <p:cNvPr id="12" name="Group 11">
            <a:extLst>
              <a:ext uri="{FF2B5EF4-FFF2-40B4-BE49-F238E27FC236}">
                <a16:creationId xmlns:a16="http://schemas.microsoft.com/office/drawing/2014/main" id="{CF51128F-E82F-B9FA-5B23-9AFCD1E1B8CA}"/>
              </a:ext>
            </a:extLst>
          </p:cNvPr>
          <p:cNvGrpSpPr/>
          <p:nvPr/>
        </p:nvGrpSpPr>
        <p:grpSpPr>
          <a:xfrm>
            <a:off x="1295400" y="6735354"/>
            <a:ext cx="5038071" cy="3284946"/>
            <a:chOff x="1028700" y="1261827"/>
            <a:chExt cx="5038071" cy="3559266"/>
          </a:xfrm>
        </p:grpSpPr>
        <p:grpSp>
          <p:nvGrpSpPr>
            <p:cNvPr id="13" name="Group 3">
              <a:extLst>
                <a:ext uri="{FF2B5EF4-FFF2-40B4-BE49-F238E27FC236}">
                  <a16:creationId xmlns:a16="http://schemas.microsoft.com/office/drawing/2014/main" id="{0AF7993C-BF9E-EFCA-4C77-A48CC640B3FA}"/>
                </a:ext>
              </a:extLst>
            </p:cNvPr>
            <p:cNvGrpSpPr/>
            <p:nvPr/>
          </p:nvGrpSpPr>
          <p:grpSpPr>
            <a:xfrm>
              <a:off x="1028700" y="1261827"/>
              <a:ext cx="5038071" cy="3559266"/>
              <a:chOff x="0" y="0"/>
              <a:chExt cx="1048738" cy="740906"/>
            </a:xfrm>
          </p:grpSpPr>
          <p:sp>
            <p:nvSpPr>
              <p:cNvPr id="19" name="Freeform 4">
                <a:extLst>
                  <a:ext uri="{FF2B5EF4-FFF2-40B4-BE49-F238E27FC236}">
                    <a16:creationId xmlns:a16="http://schemas.microsoft.com/office/drawing/2014/main" id="{C8C16AE9-5E61-B421-64D5-2B925061DB00}"/>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sp>
          <p:sp>
            <p:nvSpPr>
              <p:cNvPr id="20" name="TextBox 5">
                <a:extLst>
                  <a:ext uri="{FF2B5EF4-FFF2-40B4-BE49-F238E27FC236}">
                    <a16:creationId xmlns:a16="http://schemas.microsoft.com/office/drawing/2014/main" id="{35D6A85A-711D-1C3D-8C5D-85093A4DBFF0}"/>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14" name="Group 15">
              <a:extLst>
                <a:ext uri="{FF2B5EF4-FFF2-40B4-BE49-F238E27FC236}">
                  <a16:creationId xmlns:a16="http://schemas.microsoft.com/office/drawing/2014/main" id="{173B349C-D466-159B-875B-D54DBA62005E}"/>
                </a:ext>
              </a:extLst>
            </p:cNvPr>
            <p:cNvGrpSpPr/>
            <p:nvPr/>
          </p:nvGrpSpPr>
          <p:grpSpPr>
            <a:xfrm>
              <a:off x="1028700" y="1261827"/>
              <a:ext cx="5038071" cy="668736"/>
              <a:chOff x="0" y="0"/>
              <a:chExt cx="1048738" cy="139206"/>
            </a:xfrm>
          </p:grpSpPr>
          <p:sp>
            <p:nvSpPr>
              <p:cNvPr id="17" name="Freeform 16">
                <a:extLst>
                  <a:ext uri="{FF2B5EF4-FFF2-40B4-BE49-F238E27FC236}">
                    <a16:creationId xmlns:a16="http://schemas.microsoft.com/office/drawing/2014/main" id="{4F47DD02-FCD8-0271-57A6-3DC5E63503AE}"/>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18" name="TextBox 17">
                <a:extLst>
                  <a:ext uri="{FF2B5EF4-FFF2-40B4-BE49-F238E27FC236}">
                    <a16:creationId xmlns:a16="http://schemas.microsoft.com/office/drawing/2014/main" id="{FCFFD281-3378-F2EB-95E2-E9DE5AD8C067}"/>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15" name="TextBox 28">
              <a:extLst>
                <a:ext uri="{FF2B5EF4-FFF2-40B4-BE49-F238E27FC236}">
                  <a16:creationId xmlns:a16="http://schemas.microsoft.com/office/drawing/2014/main" id="{4071D481-A788-154F-5E86-A178F435DC52}"/>
                </a:ext>
              </a:extLst>
            </p:cNvPr>
            <p:cNvSpPr txBox="1"/>
            <p:nvPr/>
          </p:nvSpPr>
          <p:spPr>
            <a:xfrm>
              <a:off x="1345712" y="1452532"/>
              <a:ext cx="3739422" cy="347374"/>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Advantages</a:t>
              </a:r>
            </a:p>
          </p:txBody>
        </p:sp>
        <p:sp>
          <p:nvSpPr>
            <p:cNvPr id="16" name="TextBox 32">
              <a:extLst>
                <a:ext uri="{FF2B5EF4-FFF2-40B4-BE49-F238E27FC236}">
                  <a16:creationId xmlns:a16="http://schemas.microsoft.com/office/drawing/2014/main" id="{11650B7B-C852-754F-1558-F035F94993CE}"/>
                </a:ext>
              </a:extLst>
            </p:cNvPr>
            <p:cNvSpPr txBox="1"/>
            <p:nvPr/>
          </p:nvSpPr>
          <p:spPr>
            <a:xfrm>
              <a:off x="1345712" y="2381812"/>
              <a:ext cx="4137951" cy="324517"/>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Faster Access</a:t>
              </a:r>
            </a:p>
          </p:txBody>
        </p:sp>
      </p:grpSp>
      <p:sp>
        <p:nvSpPr>
          <p:cNvPr id="21" name="TextBox 32">
            <a:extLst>
              <a:ext uri="{FF2B5EF4-FFF2-40B4-BE49-F238E27FC236}">
                <a16:creationId xmlns:a16="http://schemas.microsoft.com/office/drawing/2014/main" id="{61E87FA2-C393-0AA0-8A46-11C0CD124E8D}"/>
              </a:ext>
            </a:extLst>
          </p:cNvPr>
          <p:cNvSpPr txBox="1"/>
          <p:nvPr/>
        </p:nvSpPr>
        <p:spPr>
          <a:xfrm>
            <a:off x="1612412" y="8370435"/>
            <a:ext cx="4137951" cy="581634"/>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Stores multiple values of same type</a:t>
            </a:r>
          </a:p>
        </p:txBody>
      </p:sp>
      <p:grpSp>
        <p:nvGrpSpPr>
          <p:cNvPr id="22" name="Group 21">
            <a:extLst>
              <a:ext uri="{FF2B5EF4-FFF2-40B4-BE49-F238E27FC236}">
                <a16:creationId xmlns:a16="http://schemas.microsoft.com/office/drawing/2014/main" id="{19089F67-C35C-589B-572E-0B91C93F33E8}"/>
              </a:ext>
            </a:extLst>
          </p:cNvPr>
          <p:cNvGrpSpPr/>
          <p:nvPr/>
        </p:nvGrpSpPr>
        <p:grpSpPr>
          <a:xfrm>
            <a:off x="6624963" y="6727962"/>
            <a:ext cx="5038071" cy="3284946"/>
            <a:chOff x="1028700" y="1261827"/>
            <a:chExt cx="5038071" cy="3559266"/>
          </a:xfrm>
        </p:grpSpPr>
        <p:grpSp>
          <p:nvGrpSpPr>
            <p:cNvPr id="23" name="Group 3">
              <a:extLst>
                <a:ext uri="{FF2B5EF4-FFF2-40B4-BE49-F238E27FC236}">
                  <a16:creationId xmlns:a16="http://schemas.microsoft.com/office/drawing/2014/main" id="{AB467421-FF3B-D4B2-711D-016EB68F9235}"/>
                </a:ext>
              </a:extLst>
            </p:cNvPr>
            <p:cNvGrpSpPr/>
            <p:nvPr/>
          </p:nvGrpSpPr>
          <p:grpSpPr>
            <a:xfrm>
              <a:off x="1028700" y="1261827"/>
              <a:ext cx="5038071" cy="3559266"/>
              <a:chOff x="0" y="0"/>
              <a:chExt cx="1048738" cy="740906"/>
            </a:xfrm>
          </p:grpSpPr>
          <p:sp>
            <p:nvSpPr>
              <p:cNvPr id="29" name="Freeform 4">
                <a:extLst>
                  <a:ext uri="{FF2B5EF4-FFF2-40B4-BE49-F238E27FC236}">
                    <a16:creationId xmlns:a16="http://schemas.microsoft.com/office/drawing/2014/main" id="{665A5790-5DC2-E72A-15F4-68B47D3F91BC}"/>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sp>
          <p:sp>
            <p:nvSpPr>
              <p:cNvPr id="30" name="TextBox 5">
                <a:extLst>
                  <a:ext uri="{FF2B5EF4-FFF2-40B4-BE49-F238E27FC236}">
                    <a16:creationId xmlns:a16="http://schemas.microsoft.com/office/drawing/2014/main" id="{3750C473-7006-0769-008B-47425BC62427}"/>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24" name="Group 15">
              <a:extLst>
                <a:ext uri="{FF2B5EF4-FFF2-40B4-BE49-F238E27FC236}">
                  <a16:creationId xmlns:a16="http://schemas.microsoft.com/office/drawing/2014/main" id="{3C1A946F-07B6-4EC9-5220-E784188C305E}"/>
                </a:ext>
              </a:extLst>
            </p:cNvPr>
            <p:cNvGrpSpPr/>
            <p:nvPr/>
          </p:nvGrpSpPr>
          <p:grpSpPr>
            <a:xfrm>
              <a:off x="1028700" y="1261827"/>
              <a:ext cx="5038071" cy="668736"/>
              <a:chOff x="0" y="0"/>
              <a:chExt cx="1048738" cy="139206"/>
            </a:xfrm>
          </p:grpSpPr>
          <p:sp>
            <p:nvSpPr>
              <p:cNvPr id="27" name="Freeform 16">
                <a:extLst>
                  <a:ext uri="{FF2B5EF4-FFF2-40B4-BE49-F238E27FC236}">
                    <a16:creationId xmlns:a16="http://schemas.microsoft.com/office/drawing/2014/main" id="{BEF05629-57F3-7D26-FE10-B7122AAFDCF3}"/>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28" name="TextBox 27">
                <a:extLst>
                  <a:ext uri="{FF2B5EF4-FFF2-40B4-BE49-F238E27FC236}">
                    <a16:creationId xmlns:a16="http://schemas.microsoft.com/office/drawing/2014/main" id="{97FF1B18-E9D7-4E41-319B-7BA17741DF0F}"/>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25" name="TextBox 28">
              <a:extLst>
                <a:ext uri="{FF2B5EF4-FFF2-40B4-BE49-F238E27FC236}">
                  <a16:creationId xmlns:a16="http://schemas.microsoft.com/office/drawing/2014/main" id="{446B8F8C-C8CA-B34A-376D-50FDD1966AFE}"/>
                </a:ext>
              </a:extLst>
            </p:cNvPr>
            <p:cNvSpPr txBox="1"/>
            <p:nvPr/>
          </p:nvSpPr>
          <p:spPr>
            <a:xfrm>
              <a:off x="1345712" y="1452532"/>
              <a:ext cx="3739422" cy="347374"/>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Disadvantages</a:t>
              </a:r>
            </a:p>
          </p:txBody>
        </p:sp>
        <p:sp>
          <p:nvSpPr>
            <p:cNvPr id="26" name="TextBox 32">
              <a:extLst>
                <a:ext uri="{FF2B5EF4-FFF2-40B4-BE49-F238E27FC236}">
                  <a16:creationId xmlns:a16="http://schemas.microsoft.com/office/drawing/2014/main" id="{46362ABD-F500-789D-418C-DB497DD2D72B}"/>
                </a:ext>
              </a:extLst>
            </p:cNvPr>
            <p:cNvSpPr txBox="1"/>
            <p:nvPr/>
          </p:nvSpPr>
          <p:spPr>
            <a:xfrm>
              <a:off x="1345712" y="2381812"/>
              <a:ext cx="4137951" cy="630205"/>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Fixed Size in most languages</a:t>
              </a:r>
              <a:endParaRPr lang="en-US" sz="2400" u="none" spc="96" dirty="0">
                <a:solidFill>
                  <a:srgbClr val="000000"/>
                </a:solidFill>
                <a:latin typeface="DM Sans"/>
                <a:ea typeface="DM Sans"/>
                <a:cs typeface="DM Sans"/>
                <a:sym typeface="DM Sans"/>
              </a:endParaRPr>
            </a:p>
          </p:txBody>
        </p:sp>
      </p:grpSp>
      <p:sp>
        <p:nvSpPr>
          <p:cNvPr id="31" name="TextBox 32">
            <a:extLst>
              <a:ext uri="{FF2B5EF4-FFF2-40B4-BE49-F238E27FC236}">
                <a16:creationId xmlns:a16="http://schemas.microsoft.com/office/drawing/2014/main" id="{1C903804-3A2B-AEC2-3348-8314ACDA1489}"/>
              </a:ext>
            </a:extLst>
          </p:cNvPr>
          <p:cNvSpPr txBox="1"/>
          <p:nvPr/>
        </p:nvSpPr>
        <p:spPr>
          <a:xfrm>
            <a:off x="6941974" y="8512274"/>
            <a:ext cx="4137951" cy="581634"/>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Insertion and deletion can be costly</a:t>
            </a:r>
            <a:endParaRPr lang="en-US" sz="2400" u="none" spc="96" dirty="0">
              <a:solidFill>
                <a:srgbClr val="000000"/>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3" name="Freeform 3"/>
          <p:cNvSpPr/>
          <p:nvPr/>
        </p:nvSpPr>
        <p:spPr>
          <a:xfrm rot="18378280">
            <a:off x="-1264892" y="2408121"/>
            <a:ext cx="7567145" cy="2582288"/>
          </a:xfrm>
          <a:custGeom>
            <a:avLst/>
            <a:gdLst/>
            <a:ahLst/>
            <a:cxnLst/>
            <a:rect l="l" t="t" r="r" b="b"/>
            <a:pathLst>
              <a:path w="7567145" h="2582288">
                <a:moveTo>
                  <a:pt x="0" y="0"/>
                </a:moveTo>
                <a:lnTo>
                  <a:pt x="7567144" y="0"/>
                </a:lnTo>
                <a:lnTo>
                  <a:pt x="7567144" y="2582288"/>
                </a:lnTo>
                <a:lnTo>
                  <a:pt x="0" y="25822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7" name="TextBox 5">
            <a:extLst>
              <a:ext uri="{FF2B5EF4-FFF2-40B4-BE49-F238E27FC236}">
                <a16:creationId xmlns:a16="http://schemas.microsoft.com/office/drawing/2014/main" id="{49EC4CE8-718A-9E60-66C3-7345C7450A41}"/>
              </a:ext>
            </a:extLst>
          </p:cNvPr>
          <p:cNvSpPr txBox="1"/>
          <p:nvPr/>
        </p:nvSpPr>
        <p:spPr>
          <a:xfrm>
            <a:off x="7315200" y="501572"/>
            <a:ext cx="8092094" cy="116653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Stack</a:t>
            </a:r>
          </a:p>
        </p:txBody>
      </p:sp>
      <p:sp>
        <p:nvSpPr>
          <p:cNvPr id="8" name="TextBox 7">
            <a:extLst>
              <a:ext uri="{FF2B5EF4-FFF2-40B4-BE49-F238E27FC236}">
                <a16:creationId xmlns:a16="http://schemas.microsoft.com/office/drawing/2014/main" id="{97FC1638-6F6F-D418-FBBE-BA0FABB4088F}"/>
              </a:ext>
            </a:extLst>
          </p:cNvPr>
          <p:cNvSpPr txBox="1"/>
          <p:nvPr/>
        </p:nvSpPr>
        <p:spPr>
          <a:xfrm>
            <a:off x="7836883" y="1638300"/>
            <a:ext cx="7707571" cy="2165401"/>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Characteristics: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1) Last In First Out</a:t>
            </a:r>
          </a:p>
          <a:p>
            <a:pPr marL="0" lvl="0" indent="0" algn="l">
              <a:lnSpc>
                <a:spcPct val="150000"/>
              </a:lnSpc>
              <a:spcBef>
                <a:spcPct val="0"/>
              </a:spcBef>
            </a:pPr>
            <a:r>
              <a:rPr lang="en-US" sz="2400" spc="119" dirty="0">
                <a:solidFill>
                  <a:srgbClr val="000000"/>
                </a:solidFill>
                <a:latin typeface="DM Sans"/>
                <a:ea typeface="DM Sans"/>
                <a:cs typeface="DM Sans"/>
                <a:sym typeface="DM Sans"/>
              </a:rPr>
              <a:t>2) Single Access Point</a:t>
            </a:r>
            <a:br>
              <a:rPr lang="en-US" sz="2400" spc="119" dirty="0">
                <a:solidFill>
                  <a:srgbClr val="000000"/>
                </a:solidFill>
                <a:latin typeface="DM Sans"/>
                <a:ea typeface="DM Sans"/>
                <a:cs typeface="DM Sans"/>
                <a:sym typeface="DM Sans"/>
              </a:rPr>
            </a:br>
            <a:r>
              <a:rPr lang="en-US" sz="2400" spc="119" dirty="0">
                <a:solidFill>
                  <a:srgbClr val="000000"/>
                </a:solidFill>
                <a:latin typeface="DM Sans"/>
                <a:ea typeface="DM Sans"/>
                <a:cs typeface="DM Sans"/>
                <a:sym typeface="DM Sans"/>
              </a:rPr>
              <a:t>3) Fixed or Dynamic Size</a:t>
            </a:r>
            <a:endParaRPr lang="en-US" sz="2400" u="none" spc="119" dirty="0">
              <a:solidFill>
                <a:srgbClr val="000000"/>
              </a:solidFill>
              <a:latin typeface="DM Sans"/>
              <a:ea typeface="DM Sans"/>
              <a:cs typeface="DM Sans"/>
              <a:sym typeface="DM Sans"/>
            </a:endParaRPr>
          </a:p>
        </p:txBody>
      </p:sp>
      <p:sp>
        <p:nvSpPr>
          <p:cNvPr id="9" name="TextBox 8">
            <a:extLst>
              <a:ext uri="{FF2B5EF4-FFF2-40B4-BE49-F238E27FC236}">
                <a16:creationId xmlns:a16="http://schemas.microsoft.com/office/drawing/2014/main" id="{D9590FE3-3680-AD2F-DBB4-A06204326763}"/>
              </a:ext>
            </a:extLst>
          </p:cNvPr>
          <p:cNvSpPr txBox="1"/>
          <p:nvPr/>
        </p:nvSpPr>
        <p:spPr>
          <a:xfrm>
            <a:off x="7836882" y="3989297"/>
            <a:ext cx="7707571" cy="1611403"/>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Operations: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Push, Pop, Peek, </a:t>
            </a:r>
            <a:r>
              <a:rPr lang="en-US" sz="2400" u="none" spc="119" dirty="0" err="1">
                <a:solidFill>
                  <a:srgbClr val="000000"/>
                </a:solidFill>
                <a:latin typeface="DM Sans"/>
                <a:ea typeface="DM Sans"/>
                <a:cs typeface="DM Sans"/>
                <a:sym typeface="DM Sans"/>
              </a:rPr>
              <a:t>isEmpty</a:t>
            </a:r>
            <a:r>
              <a:rPr lang="en-US" sz="2400" spc="119" dirty="0">
                <a:solidFill>
                  <a:srgbClr val="000000"/>
                </a:solidFill>
                <a:latin typeface="DM Sans"/>
                <a:ea typeface="DM Sans"/>
                <a:cs typeface="DM Sans"/>
                <a:sym typeface="DM Sans"/>
              </a:rPr>
              <a:t> and</a:t>
            </a:r>
            <a:r>
              <a:rPr lang="en-US" sz="2400" u="none" spc="119" dirty="0">
                <a:solidFill>
                  <a:srgbClr val="000000"/>
                </a:solidFill>
                <a:latin typeface="DM Sans"/>
                <a:ea typeface="DM Sans"/>
                <a:cs typeface="DM Sans"/>
                <a:sym typeface="DM Sans"/>
              </a:rPr>
              <a:t> </a:t>
            </a:r>
            <a:r>
              <a:rPr lang="en-US" sz="2400" u="none" spc="119" dirty="0" err="1">
                <a:solidFill>
                  <a:srgbClr val="000000"/>
                </a:solidFill>
                <a:latin typeface="DM Sans"/>
                <a:ea typeface="DM Sans"/>
                <a:cs typeface="DM Sans"/>
                <a:sym typeface="DM Sans"/>
              </a:rPr>
              <a:t>isFull</a:t>
            </a:r>
            <a:r>
              <a:rPr lang="en-US" sz="2400" u="none" spc="119" dirty="0">
                <a:solidFill>
                  <a:srgbClr val="000000"/>
                </a:solidFill>
                <a:latin typeface="DM Sans"/>
                <a:ea typeface="DM Sans"/>
                <a:cs typeface="DM Sans"/>
                <a:sym typeface="DM Sans"/>
              </a:rPr>
              <a:t> all operations are of constant time O(1)</a:t>
            </a:r>
          </a:p>
        </p:txBody>
      </p:sp>
      <p:grpSp>
        <p:nvGrpSpPr>
          <p:cNvPr id="31" name="Group 30">
            <a:extLst>
              <a:ext uri="{FF2B5EF4-FFF2-40B4-BE49-F238E27FC236}">
                <a16:creationId xmlns:a16="http://schemas.microsoft.com/office/drawing/2014/main" id="{8B61B84A-2B12-69A2-A417-2FC9F68C83E7}"/>
              </a:ext>
            </a:extLst>
          </p:cNvPr>
          <p:cNvGrpSpPr/>
          <p:nvPr/>
        </p:nvGrpSpPr>
        <p:grpSpPr>
          <a:xfrm>
            <a:off x="12804495" y="8322188"/>
            <a:ext cx="5038072" cy="1538320"/>
            <a:chOff x="12804495" y="8322188"/>
            <a:chExt cx="5038072" cy="1538320"/>
          </a:xfrm>
        </p:grpSpPr>
        <p:grpSp>
          <p:nvGrpSpPr>
            <p:cNvPr id="21" name="Group 3">
              <a:extLst>
                <a:ext uri="{FF2B5EF4-FFF2-40B4-BE49-F238E27FC236}">
                  <a16:creationId xmlns:a16="http://schemas.microsoft.com/office/drawing/2014/main" id="{7110FFCA-5714-D87A-5C11-8FDCBBC53086}"/>
                </a:ext>
              </a:extLst>
            </p:cNvPr>
            <p:cNvGrpSpPr/>
            <p:nvPr/>
          </p:nvGrpSpPr>
          <p:grpSpPr>
            <a:xfrm>
              <a:off x="12804496" y="8773680"/>
              <a:ext cx="5038071" cy="1086828"/>
              <a:chOff x="0" y="0"/>
              <a:chExt cx="1048738" cy="740906"/>
            </a:xfrm>
          </p:grpSpPr>
          <p:sp>
            <p:nvSpPr>
              <p:cNvPr id="27" name="Freeform 4">
                <a:extLst>
                  <a:ext uri="{FF2B5EF4-FFF2-40B4-BE49-F238E27FC236}">
                    <a16:creationId xmlns:a16="http://schemas.microsoft.com/office/drawing/2014/main" id="{54E86571-6FF0-330C-3B52-4E02FE5DAAA8}"/>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28" name="TextBox 5">
                <a:extLst>
                  <a:ext uri="{FF2B5EF4-FFF2-40B4-BE49-F238E27FC236}">
                    <a16:creationId xmlns:a16="http://schemas.microsoft.com/office/drawing/2014/main" id="{7054EEF2-63EB-62FC-B430-73F49AE8C5F0}"/>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22" name="Group 15">
              <a:extLst>
                <a:ext uri="{FF2B5EF4-FFF2-40B4-BE49-F238E27FC236}">
                  <a16:creationId xmlns:a16="http://schemas.microsoft.com/office/drawing/2014/main" id="{788C2880-0FE4-7C20-A136-2576D472B42F}"/>
                </a:ext>
              </a:extLst>
            </p:cNvPr>
            <p:cNvGrpSpPr/>
            <p:nvPr/>
          </p:nvGrpSpPr>
          <p:grpSpPr>
            <a:xfrm>
              <a:off x="12804495" y="8322188"/>
              <a:ext cx="5038071" cy="617195"/>
              <a:chOff x="0" y="0"/>
              <a:chExt cx="1048738" cy="139206"/>
            </a:xfrm>
          </p:grpSpPr>
          <p:sp>
            <p:nvSpPr>
              <p:cNvPr id="25" name="Freeform 16">
                <a:extLst>
                  <a:ext uri="{FF2B5EF4-FFF2-40B4-BE49-F238E27FC236}">
                    <a16:creationId xmlns:a16="http://schemas.microsoft.com/office/drawing/2014/main" id="{B2B49D0D-DB7D-EC08-F117-EF0EA5AF655A}"/>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26" name="TextBox 25">
                <a:extLst>
                  <a:ext uri="{FF2B5EF4-FFF2-40B4-BE49-F238E27FC236}">
                    <a16:creationId xmlns:a16="http://schemas.microsoft.com/office/drawing/2014/main" id="{67EC521C-0C44-5D9E-D8F8-E3E982DD1BB8}"/>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23" name="TextBox 28">
              <a:extLst>
                <a:ext uri="{FF2B5EF4-FFF2-40B4-BE49-F238E27FC236}">
                  <a16:creationId xmlns:a16="http://schemas.microsoft.com/office/drawing/2014/main" id="{36689544-730F-2BE6-A16A-F8E2D9CBB520}"/>
                </a:ext>
              </a:extLst>
            </p:cNvPr>
            <p:cNvSpPr txBox="1"/>
            <p:nvPr/>
          </p:nvSpPr>
          <p:spPr>
            <a:xfrm>
              <a:off x="13121506" y="8502589"/>
              <a:ext cx="3739422" cy="320601"/>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Disadvantages</a:t>
              </a:r>
            </a:p>
          </p:txBody>
        </p:sp>
        <p:sp>
          <p:nvSpPr>
            <p:cNvPr id="24" name="TextBox 32">
              <a:extLst>
                <a:ext uri="{FF2B5EF4-FFF2-40B4-BE49-F238E27FC236}">
                  <a16:creationId xmlns:a16="http://schemas.microsoft.com/office/drawing/2014/main" id="{6F9F0FA2-46E7-E920-E0FF-57E976408A5F}"/>
                </a:ext>
              </a:extLst>
            </p:cNvPr>
            <p:cNvSpPr txBox="1"/>
            <p:nvPr/>
          </p:nvSpPr>
          <p:spPr>
            <a:xfrm>
              <a:off x="13106267" y="9308685"/>
              <a:ext cx="4137951" cy="299506"/>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Limited Access</a:t>
              </a:r>
              <a:endParaRPr lang="en-US" sz="2400" u="none" spc="96" dirty="0">
                <a:solidFill>
                  <a:srgbClr val="000000"/>
                </a:solidFill>
                <a:latin typeface="DM Sans"/>
                <a:ea typeface="DM Sans"/>
                <a:cs typeface="DM Sans"/>
                <a:sym typeface="DM Sans"/>
              </a:endParaRPr>
            </a:p>
          </p:txBody>
        </p:sp>
      </p:grpSp>
      <p:sp>
        <p:nvSpPr>
          <p:cNvPr id="29" name="TextBox 32">
            <a:extLst>
              <a:ext uri="{FF2B5EF4-FFF2-40B4-BE49-F238E27FC236}">
                <a16:creationId xmlns:a16="http://schemas.microsoft.com/office/drawing/2014/main" id="{C402C106-7DE4-A602-A714-A5971EF2CA38}"/>
              </a:ext>
            </a:extLst>
          </p:cNvPr>
          <p:cNvSpPr txBox="1"/>
          <p:nvPr/>
        </p:nvSpPr>
        <p:spPr>
          <a:xfrm>
            <a:off x="13121507" y="8359874"/>
            <a:ext cx="4137951" cy="299506"/>
          </a:xfrm>
          <a:prstGeom prst="rect">
            <a:avLst/>
          </a:prstGeom>
        </p:spPr>
        <p:txBody>
          <a:bodyPr lIns="0" tIns="0" rIns="0" bIns="0" rtlCol="0" anchor="t">
            <a:spAutoFit/>
          </a:bodyPr>
          <a:lstStyle/>
          <a:p>
            <a:pPr marL="0" lvl="0" indent="0" algn="l">
              <a:lnSpc>
                <a:spcPts val="2160"/>
              </a:lnSpc>
              <a:spcBef>
                <a:spcPct val="0"/>
              </a:spcBef>
            </a:pPr>
            <a:endParaRPr lang="en-US" sz="2400" u="none" spc="96" dirty="0">
              <a:solidFill>
                <a:srgbClr val="000000"/>
              </a:solidFill>
              <a:latin typeface="DM Sans"/>
              <a:ea typeface="DM Sans"/>
              <a:cs typeface="DM Sans"/>
              <a:sym typeface="DM Sans"/>
            </a:endParaRPr>
          </a:p>
        </p:txBody>
      </p:sp>
      <p:pic>
        <p:nvPicPr>
          <p:cNvPr id="30" name="Picture 2" descr="How I Mastered Data Structures and Algorithms">
            <a:extLst>
              <a:ext uri="{FF2B5EF4-FFF2-40B4-BE49-F238E27FC236}">
                <a16:creationId xmlns:a16="http://schemas.microsoft.com/office/drawing/2014/main" id="{2D989B58-104D-C814-C2BA-6AB1BED884C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0765" t="46849"/>
          <a:stretch/>
        </p:blipFill>
        <p:spPr bwMode="auto">
          <a:xfrm>
            <a:off x="1187951" y="2387168"/>
            <a:ext cx="5038071" cy="5544463"/>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Group 31">
            <a:extLst>
              <a:ext uri="{FF2B5EF4-FFF2-40B4-BE49-F238E27FC236}">
                <a16:creationId xmlns:a16="http://schemas.microsoft.com/office/drawing/2014/main" id="{55E1A576-4543-8B8D-A038-6CD0DBAC3330}"/>
              </a:ext>
            </a:extLst>
          </p:cNvPr>
          <p:cNvGrpSpPr/>
          <p:nvPr/>
        </p:nvGrpSpPr>
        <p:grpSpPr>
          <a:xfrm>
            <a:off x="7469846" y="8322188"/>
            <a:ext cx="5038072" cy="1538320"/>
            <a:chOff x="12804495" y="8322188"/>
            <a:chExt cx="5038072" cy="1538320"/>
          </a:xfrm>
        </p:grpSpPr>
        <p:grpSp>
          <p:nvGrpSpPr>
            <p:cNvPr id="33" name="Group 3">
              <a:extLst>
                <a:ext uri="{FF2B5EF4-FFF2-40B4-BE49-F238E27FC236}">
                  <a16:creationId xmlns:a16="http://schemas.microsoft.com/office/drawing/2014/main" id="{14D45EDC-3538-194D-D566-57FEC7AFC430}"/>
                </a:ext>
              </a:extLst>
            </p:cNvPr>
            <p:cNvGrpSpPr/>
            <p:nvPr/>
          </p:nvGrpSpPr>
          <p:grpSpPr>
            <a:xfrm>
              <a:off x="12804496" y="8773680"/>
              <a:ext cx="5038071" cy="1086828"/>
              <a:chOff x="0" y="0"/>
              <a:chExt cx="1048738" cy="740906"/>
            </a:xfrm>
          </p:grpSpPr>
          <p:sp>
            <p:nvSpPr>
              <p:cNvPr id="39" name="Freeform 4">
                <a:extLst>
                  <a:ext uri="{FF2B5EF4-FFF2-40B4-BE49-F238E27FC236}">
                    <a16:creationId xmlns:a16="http://schemas.microsoft.com/office/drawing/2014/main" id="{CE5956CF-9E9E-0FC4-3238-BFC8473C4AD1}"/>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40" name="TextBox 5">
                <a:extLst>
                  <a:ext uri="{FF2B5EF4-FFF2-40B4-BE49-F238E27FC236}">
                    <a16:creationId xmlns:a16="http://schemas.microsoft.com/office/drawing/2014/main" id="{6C946790-D2C3-A38F-F994-6D89B198E0D2}"/>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34" name="Group 15">
              <a:extLst>
                <a:ext uri="{FF2B5EF4-FFF2-40B4-BE49-F238E27FC236}">
                  <a16:creationId xmlns:a16="http://schemas.microsoft.com/office/drawing/2014/main" id="{8BE84CE7-1B8C-91BA-C1C5-0DD7019C6D37}"/>
                </a:ext>
              </a:extLst>
            </p:cNvPr>
            <p:cNvGrpSpPr/>
            <p:nvPr/>
          </p:nvGrpSpPr>
          <p:grpSpPr>
            <a:xfrm>
              <a:off x="12804495" y="8322188"/>
              <a:ext cx="5038071" cy="617195"/>
              <a:chOff x="0" y="0"/>
              <a:chExt cx="1048738" cy="139206"/>
            </a:xfrm>
          </p:grpSpPr>
          <p:sp>
            <p:nvSpPr>
              <p:cNvPr id="37" name="Freeform 16">
                <a:extLst>
                  <a:ext uri="{FF2B5EF4-FFF2-40B4-BE49-F238E27FC236}">
                    <a16:creationId xmlns:a16="http://schemas.microsoft.com/office/drawing/2014/main" id="{527CD1DF-7AAC-9CAC-A821-2079AEA0A5D3}"/>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38" name="TextBox 37">
                <a:extLst>
                  <a:ext uri="{FF2B5EF4-FFF2-40B4-BE49-F238E27FC236}">
                    <a16:creationId xmlns:a16="http://schemas.microsoft.com/office/drawing/2014/main" id="{68C6FCE8-B4C1-4362-C946-5E137103E2CB}"/>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35" name="TextBox 28">
              <a:extLst>
                <a:ext uri="{FF2B5EF4-FFF2-40B4-BE49-F238E27FC236}">
                  <a16:creationId xmlns:a16="http://schemas.microsoft.com/office/drawing/2014/main" id="{B38236C1-A626-99AC-1BEB-E594A4AD6DCD}"/>
                </a:ext>
              </a:extLst>
            </p:cNvPr>
            <p:cNvSpPr txBox="1"/>
            <p:nvPr/>
          </p:nvSpPr>
          <p:spPr>
            <a:xfrm>
              <a:off x="13121506" y="8502589"/>
              <a:ext cx="3739422" cy="320601"/>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Advantages</a:t>
              </a:r>
            </a:p>
          </p:txBody>
        </p:sp>
        <p:sp>
          <p:nvSpPr>
            <p:cNvPr id="36" name="TextBox 32">
              <a:extLst>
                <a:ext uri="{FF2B5EF4-FFF2-40B4-BE49-F238E27FC236}">
                  <a16:creationId xmlns:a16="http://schemas.microsoft.com/office/drawing/2014/main" id="{362EC10E-301E-F018-726E-84B428A4F4E0}"/>
                </a:ext>
              </a:extLst>
            </p:cNvPr>
            <p:cNvSpPr txBox="1"/>
            <p:nvPr/>
          </p:nvSpPr>
          <p:spPr>
            <a:xfrm>
              <a:off x="13106267" y="9308685"/>
              <a:ext cx="4137951" cy="299506"/>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Simple and Efficient</a:t>
              </a:r>
              <a:endParaRPr lang="en-US" sz="2400" u="none" spc="96" dirty="0">
                <a:solidFill>
                  <a:srgbClr val="000000"/>
                </a:solidFill>
                <a:latin typeface="DM Sans"/>
                <a:ea typeface="DM Sans"/>
                <a:cs typeface="DM Sans"/>
                <a:sym typeface="DM Sans"/>
              </a:endParaRPr>
            </a:p>
          </p:txBody>
        </p:sp>
      </p:grpSp>
      <p:sp>
        <p:nvSpPr>
          <p:cNvPr id="41" name="TextBox 40">
            <a:extLst>
              <a:ext uri="{FF2B5EF4-FFF2-40B4-BE49-F238E27FC236}">
                <a16:creationId xmlns:a16="http://schemas.microsoft.com/office/drawing/2014/main" id="{86977831-E8E4-F09E-F492-0AC5FD7973E3}"/>
              </a:ext>
            </a:extLst>
          </p:cNvPr>
          <p:cNvSpPr txBox="1"/>
          <p:nvPr/>
        </p:nvSpPr>
        <p:spPr>
          <a:xfrm>
            <a:off x="7836882" y="5758119"/>
            <a:ext cx="7707571" cy="2165401"/>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Applications: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Expression Evaluation</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Function calls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Backtracking algorithms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FF23-BB45-E3EB-DEF2-1B18D15C68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B350C8-8577-2C2B-16BD-5B240F659292}"/>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IN" dirty="0"/>
          </a:p>
        </p:txBody>
      </p:sp>
      <p:sp>
        <p:nvSpPr>
          <p:cNvPr id="3" name="Freeform 3">
            <a:extLst>
              <a:ext uri="{FF2B5EF4-FFF2-40B4-BE49-F238E27FC236}">
                <a16:creationId xmlns:a16="http://schemas.microsoft.com/office/drawing/2014/main" id="{A62C27FE-B299-AE8E-2C00-120F8A917DEB}"/>
              </a:ext>
            </a:extLst>
          </p:cNvPr>
          <p:cNvSpPr/>
          <p:nvPr/>
        </p:nvSpPr>
        <p:spPr>
          <a:xfrm>
            <a:off x="10078075" y="1267971"/>
            <a:ext cx="4208573" cy="4247184"/>
          </a:xfrm>
          <a:custGeom>
            <a:avLst/>
            <a:gdLst/>
            <a:ahLst/>
            <a:cxnLst/>
            <a:rect l="l" t="t" r="r" b="b"/>
            <a:pathLst>
              <a:path w="4208573" h="4247184">
                <a:moveTo>
                  <a:pt x="0" y="0"/>
                </a:moveTo>
                <a:lnTo>
                  <a:pt x="4208574" y="0"/>
                </a:lnTo>
                <a:lnTo>
                  <a:pt x="4208574" y="4247184"/>
                </a:lnTo>
                <a:lnTo>
                  <a:pt x="0" y="424718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TextBox 5">
            <a:extLst>
              <a:ext uri="{FF2B5EF4-FFF2-40B4-BE49-F238E27FC236}">
                <a16:creationId xmlns:a16="http://schemas.microsoft.com/office/drawing/2014/main" id="{689C3ED7-108E-FAA8-C75D-7632D2752E61}"/>
              </a:ext>
            </a:extLst>
          </p:cNvPr>
          <p:cNvSpPr txBox="1"/>
          <p:nvPr/>
        </p:nvSpPr>
        <p:spPr>
          <a:xfrm>
            <a:off x="719592" y="641786"/>
            <a:ext cx="8092094" cy="116653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Queue</a:t>
            </a:r>
          </a:p>
        </p:txBody>
      </p:sp>
      <p:sp>
        <p:nvSpPr>
          <p:cNvPr id="7" name="TextBox 6">
            <a:extLst>
              <a:ext uri="{FF2B5EF4-FFF2-40B4-BE49-F238E27FC236}">
                <a16:creationId xmlns:a16="http://schemas.microsoft.com/office/drawing/2014/main" id="{2AB4634A-9C9F-C63D-7360-D43662A6BBAE}"/>
              </a:ext>
            </a:extLst>
          </p:cNvPr>
          <p:cNvSpPr txBox="1"/>
          <p:nvPr/>
        </p:nvSpPr>
        <p:spPr>
          <a:xfrm>
            <a:off x="1147096" y="1761789"/>
            <a:ext cx="9364920" cy="2165401"/>
          </a:xfrm>
          <a:prstGeom prst="rect">
            <a:avLst/>
          </a:prstGeom>
        </p:spPr>
        <p:txBody>
          <a:bodyPr wrap="square"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Characteristics: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1) First In First Out</a:t>
            </a:r>
          </a:p>
          <a:p>
            <a:pPr marL="0" lvl="0" indent="0" algn="l">
              <a:lnSpc>
                <a:spcPct val="150000"/>
              </a:lnSpc>
              <a:spcBef>
                <a:spcPct val="0"/>
              </a:spcBef>
            </a:pPr>
            <a:r>
              <a:rPr lang="en-US" sz="2400" spc="119" dirty="0">
                <a:solidFill>
                  <a:srgbClr val="000000"/>
                </a:solidFill>
                <a:latin typeface="DM Sans"/>
                <a:ea typeface="DM Sans"/>
                <a:cs typeface="DM Sans"/>
                <a:sym typeface="DM Sans"/>
              </a:rPr>
              <a:t>2) Single Access Point(back for </a:t>
            </a:r>
            <a:r>
              <a:rPr lang="en-US" sz="2400" spc="119" dirty="0" err="1">
                <a:solidFill>
                  <a:srgbClr val="000000"/>
                </a:solidFill>
                <a:latin typeface="DM Sans"/>
                <a:ea typeface="DM Sans"/>
                <a:cs typeface="DM Sans"/>
                <a:sym typeface="DM Sans"/>
              </a:rPr>
              <a:t>enque</a:t>
            </a:r>
            <a:r>
              <a:rPr lang="en-US" sz="2400" spc="119" dirty="0">
                <a:solidFill>
                  <a:srgbClr val="000000"/>
                </a:solidFill>
                <a:latin typeface="DM Sans"/>
                <a:ea typeface="DM Sans"/>
                <a:cs typeface="DM Sans"/>
                <a:sym typeface="DM Sans"/>
              </a:rPr>
              <a:t> and front for deque</a:t>
            </a:r>
            <a:br>
              <a:rPr lang="en-US" sz="2400" spc="119" dirty="0">
                <a:solidFill>
                  <a:srgbClr val="000000"/>
                </a:solidFill>
                <a:latin typeface="DM Sans"/>
                <a:ea typeface="DM Sans"/>
                <a:cs typeface="DM Sans"/>
                <a:sym typeface="DM Sans"/>
              </a:rPr>
            </a:br>
            <a:r>
              <a:rPr lang="en-US" sz="2400" spc="119" dirty="0">
                <a:solidFill>
                  <a:srgbClr val="000000"/>
                </a:solidFill>
                <a:latin typeface="DM Sans"/>
                <a:ea typeface="DM Sans"/>
                <a:cs typeface="DM Sans"/>
                <a:sym typeface="DM Sans"/>
              </a:rPr>
              <a:t>3) Fixed or Dynamic Size</a:t>
            </a:r>
            <a:endParaRPr lang="en-US" sz="2400" u="none" spc="119" dirty="0">
              <a:solidFill>
                <a:srgbClr val="000000"/>
              </a:solidFill>
              <a:latin typeface="DM Sans"/>
              <a:ea typeface="DM Sans"/>
              <a:cs typeface="DM Sans"/>
              <a:sym typeface="DM Sans"/>
            </a:endParaRPr>
          </a:p>
        </p:txBody>
      </p:sp>
      <p:sp>
        <p:nvSpPr>
          <p:cNvPr id="4" name="TextBox 3">
            <a:extLst>
              <a:ext uri="{FF2B5EF4-FFF2-40B4-BE49-F238E27FC236}">
                <a16:creationId xmlns:a16="http://schemas.microsoft.com/office/drawing/2014/main" id="{C47F91DA-4FCE-5654-3ED4-19B581C3CE0C}"/>
              </a:ext>
            </a:extLst>
          </p:cNvPr>
          <p:cNvSpPr txBox="1"/>
          <p:nvPr/>
        </p:nvSpPr>
        <p:spPr>
          <a:xfrm>
            <a:off x="1104115" y="3941187"/>
            <a:ext cx="7707571" cy="1611403"/>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Operations:</a:t>
            </a:r>
            <a:br>
              <a:rPr lang="en-US" sz="2400" u="none" spc="119" dirty="0">
                <a:solidFill>
                  <a:srgbClr val="000000"/>
                </a:solidFill>
                <a:latin typeface="DM Sans"/>
                <a:ea typeface="DM Sans"/>
                <a:cs typeface="DM Sans"/>
                <a:sym typeface="DM Sans"/>
              </a:rPr>
            </a:br>
            <a:r>
              <a:rPr lang="en-US" sz="2400" u="none" spc="119" dirty="0" err="1">
                <a:solidFill>
                  <a:srgbClr val="000000"/>
                </a:solidFill>
                <a:latin typeface="DM Sans"/>
                <a:ea typeface="DM Sans"/>
                <a:cs typeface="DM Sans"/>
                <a:sym typeface="DM Sans"/>
              </a:rPr>
              <a:t>Enque</a:t>
            </a:r>
            <a:r>
              <a:rPr lang="en-US" sz="2400" u="none" spc="119" dirty="0">
                <a:solidFill>
                  <a:srgbClr val="000000"/>
                </a:solidFill>
                <a:latin typeface="DM Sans"/>
                <a:ea typeface="DM Sans"/>
                <a:cs typeface="DM Sans"/>
                <a:sym typeface="DM Sans"/>
              </a:rPr>
              <a:t>, Deque, Peek, </a:t>
            </a:r>
            <a:r>
              <a:rPr lang="en-US" sz="2400" u="none" spc="119" dirty="0" err="1">
                <a:solidFill>
                  <a:srgbClr val="000000"/>
                </a:solidFill>
                <a:latin typeface="DM Sans"/>
                <a:ea typeface="DM Sans"/>
                <a:cs typeface="DM Sans"/>
                <a:sym typeface="DM Sans"/>
              </a:rPr>
              <a:t>isEmpty</a:t>
            </a:r>
            <a:r>
              <a:rPr lang="en-US" sz="2400" spc="119" dirty="0">
                <a:solidFill>
                  <a:srgbClr val="000000"/>
                </a:solidFill>
                <a:latin typeface="DM Sans"/>
                <a:ea typeface="DM Sans"/>
                <a:cs typeface="DM Sans"/>
                <a:sym typeface="DM Sans"/>
              </a:rPr>
              <a:t> and</a:t>
            </a:r>
            <a:r>
              <a:rPr lang="en-US" sz="2400" u="none" spc="119" dirty="0">
                <a:solidFill>
                  <a:srgbClr val="000000"/>
                </a:solidFill>
                <a:latin typeface="DM Sans"/>
                <a:ea typeface="DM Sans"/>
                <a:cs typeface="DM Sans"/>
                <a:sym typeface="DM Sans"/>
              </a:rPr>
              <a:t> </a:t>
            </a:r>
            <a:r>
              <a:rPr lang="en-US" sz="2400" u="none" spc="119" dirty="0" err="1">
                <a:solidFill>
                  <a:srgbClr val="000000"/>
                </a:solidFill>
                <a:latin typeface="DM Sans"/>
                <a:ea typeface="DM Sans"/>
                <a:cs typeface="DM Sans"/>
                <a:sym typeface="DM Sans"/>
              </a:rPr>
              <a:t>isFull</a:t>
            </a:r>
            <a:r>
              <a:rPr lang="en-US" sz="2400" u="none" spc="119" dirty="0">
                <a:solidFill>
                  <a:srgbClr val="000000"/>
                </a:solidFill>
                <a:latin typeface="DM Sans"/>
                <a:ea typeface="DM Sans"/>
                <a:cs typeface="DM Sans"/>
                <a:sym typeface="DM Sans"/>
              </a:rPr>
              <a:t> all operations are of constant time O(1)</a:t>
            </a:r>
          </a:p>
        </p:txBody>
      </p:sp>
      <p:sp>
        <p:nvSpPr>
          <p:cNvPr id="6" name="TextBox 5">
            <a:extLst>
              <a:ext uri="{FF2B5EF4-FFF2-40B4-BE49-F238E27FC236}">
                <a16:creationId xmlns:a16="http://schemas.microsoft.com/office/drawing/2014/main" id="{40428B79-F8D6-DBDE-5152-D7B9D4C18C90}"/>
              </a:ext>
            </a:extLst>
          </p:cNvPr>
          <p:cNvSpPr txBox="1"/>
          <p:nvPr/>
        </p:nvSpPr>
        <p:spPr>
          <a:xfrm>
            <a:off x="1104115" y="5710009"/>
            <a:ext cx="7707571" cy="1611403"/>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Applications: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Process Scheduling</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Breadth-first search</a:t>
            </a:r>
          </a:p>
        </p:txBody>
      </p:sp>
      <p:grpSp>
        <p:nvGrpSpPr>
          <p:cNvPr id="9" name="Group 8">
            <a:extLst>
              <a:ext uri="{FF2B5EF4-FFF2-40B4-BE49-F238E27FC236}">
                <a16:creationId xmlns:a16="http://schemas.microsoft.com/office/drawing/2014/main" id="{3B4F8FB5-63D3-6E30-9492-A438ED838D53}"/>
              </a:ext>
            </a:extLst>
          </p:cNvPr>
          <p:cNvGrpSpPr/>
          <p:nvPr/>
        </p:nvGrpSpPr>
        <p:grpSpPr>
          <a:xfrm>
            <a:off x="12649200" y="8267700"/>
            <a:ext cx="5038072" cy="1538320"/>
            <a:chOff x="12804495" y="8322188"/>
            <a:chExt cx="5038072" cy="1538320"/>
          </a:xfrm>
        </p:grpSpPr>
        <p:grpSp>
          <p:nvGrpSpPr>
            <p:cNvPr id="10" name="Group 3">
              <a:extLst>
                <a:ext uri="{FF2B5EF4-FFF2-40B4-BE49-F238E27FC236}">
                  <a16:creationId xmlns:a16="http://schemas.microsoft.com/office/drawing/2014/main" id="{7E340950-60E8-4548-EE90-0AE7115556CE}"/>
                </a:ext>
              </a:extLst>
            </p:cNvPr>
            <p:cNvGrpSpPr/>
            <p:nvPr/>
          </p:nvGrpSpPr>
          <p:grpSpPr>
            <a:xfrm>
              <a:off x="12804496" y="8773680"/>
              <a:ext cx="5038071" cy="1086828"/>
              <a:chOff x="0" y="0"/>
              <a:chExt cx="1048738" cy="740906"/>
            </a:xfrm>
          </p:grpSpPr>
          <p:sp>
            <p:nvSpPr>
              <p:cNvPr id="36" name="Freeform 4">
                <a:extLst>
                  <a:ext uri="{FF2B5EF4-FFF2-40B4-BE49-F238E27FC236}">
                    <a16:creationId xmlns:a16="http://schemas.microsoft.com/office/drawing/2014/main" id="{C7C8A26C-D1AA-3075-3786-A50998A9789B}"/>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37" name="TextBox 5">
                <a:extLst>
                  <a:ext uri="{FF2B5EF4-FFF2-40B4-BE49-F238E27FC236}">
                    <a16:creationId xmlns:a16="http://schemas.microsoft.com/office/drawing/2014/main" id="{C5CCFA44-4D8F-D7C0-CEAF-E62F30E38E38}"/>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11" name="Group 15">
              <a:extLst>
                <a:ext uri="{FF2B5EF4-FFF2-40B4-BE49-F238E27FC236}">
                  <a16:creationId xmlns:a16="http://schemas.microsoft.com/office/drawing/2014/main" id="{0ED4DF37-2178-C7C5-9CBE-D0CFDDDFD693}"/>
                </a:ext>
              </a:extLst>
            </p:cNvPr>
            <p:cNvGrpSpPr/>
            <p:nvPr/>
          </p:nvGrpSpPr>
          <p:grpSpPr>
            <a:xfrm>
              <a:off x="12804495" y="8322188"/>
              <a:ext cx="5038071" cy="617195"/>
              <a:chOff x="0" y="0"/>
              <a:chExt cx="1048738" cy="139206"/>
            </a:xfrm>
          </p:grpSpPr>
          <p:sp>
            <p:nvSpPr>
              <p:cNvPr id="34" name="Freeform 16">
                <a:extLst>
                  <a:ext uri="{FF2B5EF4-FFF2-40B4-BE49-F238E27FC236}">
                    <a16:creationId xmlns:a16="http://schemas.microsoft.com/office/drawing/2014/main" id="{99DC5A0F-B1CA-FB1E-B77D-89F423D5B7ED}"/>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35" name="TextBox 34">
                <a:extLst>
                  <a:ext uri="{FF2B5EF4-FFF2-40B4-BE49-F238E27FC236}">
                    <a16:creationId xmlns:a16="http://schemas.microsoft.com/office/drawing/2014/main" id="{3433916D-F0B2-6875-637D-8F8A25B68D55}"/>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32" name="TextBox 28">
              <a:extLst>
                <a:ext uri="{FF2B5EF4-FFF2-40B4-BE49-F238E27FC236}">
                  <a16:creationId xmlns:a16="http://schemas.microsoft.com/office/drawing/2014/main" id="{D81DFA42-02AB-994B-915E-459BFF91D052}"/>
                </a:ext>
              </a:extLst>
            </p:cNvPr>
            <p:cNvSpPr txBox="1"/>
            <p:nvPr/>
          </p:nvSpPr>
          <p:spPr>
            <a:xfrm>
              <a:off x="13121506" y="8502589"/>
              <a:ext cx="3739422" cy="320601"/>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Disadvantages</a:t>
              </a:r>
            </a:p>
          </p:txBody>
        </p:sp>
        <p:sp>
          <p:nvSpPr>
            <p:cNvPr id="33" name="TextBox 32">
              <a:extLst>
                <a:ext uri="{FF2B5EF4-FFF2-40B4-BE49-F238E27FC236}">
                  <a16:creationId xmlns:a16="http://schemas.microsoft.com/office/drawing/2014/main" id="{09FE38F0-F4C4-CA18-9484-C7A6E71CDEF1}"/>
                </a:ext>
              </a:extLst>
            </p:cNvPr>
            <p:cNvSpPr txBox="1"/>
            <p:nvPr/>
          </p:nvSpPr>
          <p:spPr>
            <a:xfrm>
              <a:off x="13106267" y="9308685"/>
              <a:ext cx="4137951" cy="299506"/>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Limited Access</a:t>
              </a:r>
              <a:endParaRPr lang="en-US" sz="2400" u="none" spc="96" dirty="0">
                <a:solidFill>
                  <a:srgbClr val="000000"/>
                </a:solidFill>
                <a:latin typeface="DM Sans"/>
                <a:ea typeface="DM Sans"/>
                <a:cs typeface="DM Sans"/>
                <a:sym typeface="DM Sans"/>
              </a:endParaRPr>
            </a:p>
          </p:txBody>
        </p:sp>
      </p:grpSp>
      <p:grpSp>
        <p:nvGrpSpPr>
          <p:cNvPr id="38" name="Group 37">
            <a:extLst>
              <a:ext uri="{FF2B5EF4-FFF2-40B4-BE49-F238E27FC236}">
                <a16:creationId xmlns:a16="http://schemas.microsoft.com/office/drawing/2014/main" id="{74261C06-A327-23D3-60AD-875F605E782E}"/>
              </a:ext>
            </a:extLst>
          </p:cNvPr>
          <p:cNvGrpSpPr/>
          <p:nvPr/>
        </p:nvGrpSpPr>
        <p:grpSpPr>
          <a:xfrm>
            <a:off x="12649200" y="6362700"/>
            <a:ext cx="5038072" cy="1538320"/>
            <a:chOff x="12804495" y="8322188"/>
            <a:chExt cx="5038072" cy="1538320"/>
          </a:xfrm>
        </p:grpSpPr>
        <p:grpSp>
          <p:nvGrpSpPr>
            <p:cNvPr id="39" name="Group 3">
              <a:extLst>
                <a:ext uri="{FF2B5EF4-FFF2-40B4-BE49-F238E27FC236}">
                  <a16:creationId xmlns:a16="http://schemas.microsoft.com/office/drawing/2014/main" id="{845FB71A-F470-FE88-879E-C1646BEC6B7B}"/>
                </a:ext>
              </a:extLst>
            </p:cNvPr>
            <p:cNvGrpSpPr/>
            <p:nvPr/>
          </p:nvGrpSpPr>
          <p:grpSpPr>
            <a:xfrm>
              <a:off x="12804496" y="8773680"/>
              <a:ext cx="5038071" cy="1086828"/>
              <a:chOff x="0" y="0"/>
              <a:chExt cx="1048738" cy="740906"/>
            </a:xfrm>
          </p:grpSpPr>
          <p:sp>
            <p:nvSpPr>
              <p:cNvPr id="45" name="Freeform 4">
                <a:extLst>
                  <a:ext uri="{FF2B5EF4-FFF2-40B4-BE49-F238E27FC236}">
                    <a16:creationId xmlns:a16="http://schemas.microsoft.com/office/drawing/2014/main" id="{5E961D02-4FC8-5E70-85AF-51C9C71B0151}"/>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46" name="TextBox 5">
                <a:extLst>
                  <a:ext uri="{FF2B5EF4-FFF2-40B4-BE49-F238E27FC236}">
                    <a16:creationId xmlns:a16="http://schemas.microsoft.com/office/drawing/2014/main" id="{5E27B218-5838-0503-4A4C-B77167340EC4}"/>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40" name="Group 15">
              <a:extLst>
                <a:ext uri="{FF2B5EF4-FFF2-40B4-BE49-F238E27FC236}">
                  <a16:creationId xmlns:a16="http://schemas.microsoft.com/office/drawing/2014/main" id="{0A14F031-D62E-687E-4D56-5B4F61B529F3}"/>
                </a:ext>
              </a:extLst>
            </p:cNvPr>
            <p:cNvGrpSpPr/>
            <p:nvPr/>
          </p:nvGrpSpPr>
          <p:grpSpPr>
            <a:xfrm>
              <a:off x="12804495" y="8322188"/>
              <a:ext cx="5038071" cy="617195"/>
              <a:chOff x="0" y="0"/>
              <a:chExt cx="1048738" cy="139206"/>
            </a:xfrm>
          </p:grpSpPr>
          <p:sp>
            <p:nvSpPr>
              <p:cNvPr id="43" name="Freeform 16">
                <a:extLst>
                  <a:ext uri="{FF2B5EF4-FFF2-40B4-BE49-F238E27FC236}">
                    <a16:creationId xmlns:a16="http://schemas.microsoft.com/office/drawing/2014/main" id="{DFA24732-090A-30EF-5E41-07A6E7C2FB17}"/>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44" name="TextBox 43">
                <a:extLst>
                  <a:ext uri="{FF2B5EF4-FFF2-40B4-BE49-F238E27FC236}">
                    <a16:creationId xmlns:a16="http://schemas.microsoft.com/office/drawing/2014/main" id="{0E02A1D6-21EE-F98F-7461-75A77F537E9E}"/>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41" name="TextBox 28">
              <a:extLst>
                <a:ext uri="{FF2B5EF4-FFF2-40B4-BE49-F238E27FC236}">
                  <a16:creationId xmlns:a16="http://schemas.microsoft.com/office/drawing/2014/main" id="{44663BA7-4200-362B-73A3-CAC401D7EB5E}"/>
                </a:ext>
              </a:extLst>
            </p:cNvPr>
            <p:cNvSpPr txBox="1"/>
            <p:nvPr/>
          </p:nvSpPr>
          <p:spPr>
            <a:xfrm>
              <a:off x="13121506" y="8502589"/>
              <a:ext cx="3739422" cy="320601"/>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Advantages</a:t>
              </a:r>
            </a:p>
          </p:txBody>
        </p:sp>
        <p:sp>
          <p:nvSpPr>
            <p:cNvPr id="42" name="TextBox 32">
              <a:extLst>
                <a:ext uri="{FF2B5EF4-FFF2-40B4-BE49-F238E27FC236}">
                  <a16:creationId xmlns:a16="http://schemas.microsoft.com/office/drawing/2014/main" id="{AEFD6B1E-873F-2DD5-6107-EECB601E42CB}"/>
                </a:ext>
              </a:extLst>
            </p:cNvPr>
            <p:cNvSpPr txBox="1"/>
            <p:nvPr/>
          </p:nvSpPr>
          <p:spPr>
            <a:xfrm>
              <a:off x="13106267" y="9308685"/>
              <a:ext cx="4137951" cy="299506"/>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Orderly Processing</a:t>
              </a:r>
            </a:p>
          </p:txBody>
        </p:sp>
      </p:grpSp>
      <p:pic>
        <p:nvPicPr>
          <p:cNvPr id="47" name="Picture 2" descr="How I Mastered Data Structures and Algorithms">
            <a:extLst>
              <a:ext uri="{FF2B5EF4-FFF2-40B4-BE49-F238E27FC236}">
                <a16:creationId xmlns:a16="http://schemas.microsoft.com/office/drawing/2014/main" id="{136CECB3-7C41-576B-169A-E97F8ED806A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533" t="50196" r="29423"/>
          <a:stretch/>
        </p:blipFill>
        <p:spPr bwMode="auto">
          <a:xfrm>
            <a:off x="11838096" y="1648874"/>
            <a:ext cx="5038071" cy="399244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5D03AD9-19D0-6B78-6F6F-8F089CBA119D}"/>
              </a:ext>
            </a:extLst>
          </p:cNvPr>
          <p:cNvSpPr txBox="1"/>
          <p:nvPr/>
        </p:nvSpPr>
        <p:spPr>
          <a:xfrm>
            <a:off x="1150027" y="7429500"/>
            <a:ext cx="7707571" cy="2719399"/>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Types: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Simple Queue</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Circular Queue</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Priority Queue</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Double </a:t>
            </a:r>
            <a:r>
              <a:rPr lang="en-US" sz="2400" spc="119" dirty="0">
                <a:solidFill>
                  <a:srgbClr val="000000"/>
                </a:solidFill>
                <a:latin typeface="DM Sans"/>
                <a:ea typeface="DM Sans"/>
                <a:cs typeface="DM Sans"/>
                <a:sym typeface="DM Sans"/>
              </a:rPr>
              <a:t>E</a:t>
            </a:r>
            <a:r>
              <a:rPr lang="en-US" sz="2400" u="none" spc="119" dirty="0">
                <a:solidFill>
                  <a:srgbClr val="000000"/>
                </a:solidFill>
                <a:latin typeface="DM Sans"/>
                <a:ea typeface="DM Sans"/>
                <a:cs typeface="DM Sans"/>
                <a:sym typeface="DM Sans"/>
              </a:rPr>
              <a:t>nded Queue</a:t>
            </a:r>
          </a:p>
        </p:txBody>
      </p:sp>
    </p:spTree>
    <p:extLst>
      <p:ext uri="{BB962C8B-B14F-4D97-AF65-F5344CB8AC3E}">
        <p14:creationId xmlns:p14="http://schemas.microsoft.com/office/powerpoint/2010/main" val="552764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47A9C-FADB-F26F-266D-ED3DFAD17E8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36F3D5E-0984-5686-684F-C1AEE1429CDE}"/>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3" name="Freeform 3">
            <a:extLst>
              <a:ext uri="{FF2B5EF4-FFF2-40B4-BE49-F238E27FC236}">
                <a16:creationId xmlns:a16="http://schemas.microsoft.com/office/drawing/2014/main" id="{48710D95-0111-6990-8C4E-4997C79F0C12}"/>
              </a:ext>
            </a:extLst>
          </p:cNvPr>
          <p:cNvSpPr/>
          <p:nvPr/>
        </p:nvSpPr>
        <p:spPr>
          <a:xfrm rot="18378280">
            <a:off x="-1264892" y="2408121"/>
            <a:ext cx="7567145" cy="2582288"/>
          </a:xfrm>
          <a:custGeom>
            <a:avLst/>
            <a:gdLst/>
            <a:ahLst/>
            <a:cxnLst/>
            <a:rect l="l" t="t" r="r" b="b"/>
            <a:pathLst>
              <a:path w="7567145" h="2582288">
                <a:moveTo>
                  <a:pt x="0" y="0"/>
                </a:moveTo>
                <a:lnTo>
                  <a:pt x="7567144" y="0"/>
                </a:lnTo>
                <a:lnTo>
                  <a:pt x="7567144" y="2582288"/>
                </a:lnTo>
                <a:lnTo>
                  <a:pt x="0" y="25822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7" name="TextBox 5">
            <a:extLst>
              <a:ext uri="{FF2B5EF4-FFF2-40B4-BE49-F238E27FC236}">
                <a16:creationId xmlns:a16="http://schemas.microsoft.com/office/drawing/2014/main" id="{DBC5A9AF-94C8-A7B8-3E95-B0B0CC10722D}"/>
              </a:ext>
            </a:extLst>
          </p:cNvPr>
          <p:cNvSpPr txBox="1"/>
          <p:nvPr/>
        </p:nvSpPr>
        <p:spPr>
          <a:xfrm>
            <a:off x="7315200" y="501572"/>
            <a:ext cx="8092094" cy="116653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Linked List</a:t>
            </a:r>
          </a:p>
        </p:txBody>
      </p:sp>
      <p:sp>
        <p:nvSpPr>
          <p:cNvPr id="8" name="TextBox 7">
            <a:extLst>
              <a:ext uri="{FF2B5EF4-FFF2-40B4-BE49-F238E27FC236}">
                <a16:creationId xmlns:a16="http://schemas.microsoft.com/office/drawing/2014/main" id="{1F6F5ED0-FC15-3629-16B3-14FCB432F1EA}"/>
              </a:ext>
            </a:extLst>
          </p:cNvPr>
          <p:cNvSpPr txBox="1"/>
          <p:nvPr/>
        </p:nvSpPr>
        <p:spPr>
          <a:xfrm>
            <a:off x="7836883" y="1638300"/>
            <a:ext cx="7707571" cy="2165401"/>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Characteristics: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1) Sequential Access</a:t>
            </a:r>
          </a:p>
          <a:p>
            <a:pPr marL="0" lvl="0" indent="0" algn="l">
              <a:lnSpc>
                <a:spcPct val="150000"/>
              </a:lnSpc>
              <a:spcBef>
                <a:spcPct val="0"/>
              </a:spcBef>
            </a:pPr>
            <a:r>
              <a:rPr lang="en-US" sz="2400" spc="119" dirty="0">
                <a:solidFill>
                  <a:srgbClr val="000000"/>
                </a:solidFill>
                <a:latin typeface="DM Sans"/>
                <a:ea typeface="DM Sans"/>
                <a:cs typeface="DM Sans"/>
                <a:sym typeface="DM Sans"/>
              </a:rPr>
              <a:t>2) Non-Contiguous Memory Allocation</a:t>
            </a:r>
            <a:br>
              <a:rPr lang="en-US" sz="2400" spc="119" dirty="0">
                <a:solidFill>
                  <a:srgbClr val="000000"/>
                </a:solidFill>
                <a:latin typeface="DM Sans"/>
                <a:ea typeface="DM Sans"/>
                <a:cs typeface="DM Sans"/>
                <a:sym typeface="DM Sans"/>
              </a:rPr>
            </a:br>
            <a:r>
              <a:rPr lang="en-US" sz="2400" spc="119" dirty="0">
                <a:solidFill>
                  <a:srgbClr val="000000"/>
                </a:solidFill>
                <a:latin typeface="DM Sans"/>
                <a:ea typeface="DM Sans"/>
                <a:cs typeface="DM Sans"/>
                <a:sym typeface="DM Sans"/>
              </a:rPr>
              <a:t>3) Dynamic Size</a:t>
            </a:r>
            <a:endParaRPr lang="en-US" sz="2400" u="none" spc="119" dirty="0">
              <a:solidFill>
                <a:srgbClr val="000000"/>
              </a:solidFill>
              <a:latin typeface="DM Sans"/>
              <a:ea typeface="DM Sans"/>
              <a:cs typeface="DM Sans"/>
              <a:sym typeface="DM Sans"/>
            </a:endParaRPr>
          </a:p>
        </p:txBody>
      </p:sp>
      <p:sp>
        <p:nvSpPr>
          <p:cNvPr id="9" name="TextBox 8">
            <a:extLst>
              <a:ext uri="{FF2B5EF4-FFF2-40B4-BE49-F238E27FC236}">
                <a16:creationId xmlns:a16="http://schemas.microsoft.com/office/drawing/2014/main" id="{E5188C2E-42DC-9855-CE81-6B7AB7458E05}"/>
              </a:ext>
            </a:extLst>
          </p:cNvPr>
          <p:cNvSpPr txBox="1"/>
          <p:nvPr/>
        </p:nvSpPr>
        <p:spPr>
          <a:xfrm>
            <a:off x="7836882" y="4217897"/>
            <a:ext cx="7707571" cy="1611403"/>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Operations: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Insertion, deletion, search all are sequential so based on the position, time complexity varies.</a:t>
            </a:r>
          </a:p>
        </p:txBody>
      </p:sp>
      <p:sp>
        <p:nvSpPr>
          <p:cNvPr id="29" name="TextBox 32">
            <a:extLst>
              <a:ext uri="{FF2B5EF4-FFF2-40B4-BE49-F238E27FC236}">
                <a16:creationId xmlns:a16="http://schemas.microsoft.com/office/drawing/2014/main" id="{F9497BAD-80F3-61B8-6B10-24E1A92F1736}"/>
              </a:ext>
            </a:extLst>
          </p:cNvPr>
          <p:cNvSpPr txBox="1"/>
          <p:nvPr/>
        </p:nvSpPr>
        <p:spPr>
          <a:xfrm>
            <a:off x="13121507" y="8359874"/>
            <a:ext cx="4137951" cy="299506"/>
          </a:xfrm>
          <a:prstGeom prst="rect">
            <a:avLst/>
          </a:prstGeom>
        </p:spPr>
        <p:txBody>
          <a:bodyPr lIns="0" tIns="0" rIns="0" bIns="0" rtlCol="0" anchor="t">
            <a:spAutoFit/>
          </a:bodyPr>
          <a:lstStyle/>
          <a:p>
            <a:pPr marL="0" lvl="0" indent="0" algn="l">
              <a:lnSpc>
                <a:spcPts val="2160"/>
              </a:lnSpc>
              <a:spcBef>
                <a:spcPct val="0"/>
              </a:spcBef>
            </a:pPr>
            <a:endParaRPr lang="en-US" sz="2400" u="none" spc="96" dirty="0">
              <a:solidFill>
                <a:srgbClr val="000000"/>
              </a:solidFill>
              <a:latin typeface="DM Sans"/>
              <a:ea typeface="DM Sans"/>
              <a:cs typeface="DM Sans"/>
              <a:sym typeface="DM Sans"/>
            </a:endParaRPr>
          </a:p>
        </p:txBody>
      </p:sp>
      <p:sp>
        <p:nvSpPr>
          <p:cNvPr id="41" name="TextBox 40">
            <a:extLst>
              <a:ext uri="{FF2B5EF4-FFF2-40B4-BE49-F238E27FC236}">
                <a16:creationId xmlns:a16="http://schemas.microsoft.com/office/drawing/2014/main" id="{974E829B-D31C-B3EA-6D51-4C9BCD444193}"/>
              </a:ext>
            </a:extLst>
          </p:cNvPr>
          <p:cNvSpPr txBox="1"/>
          <p:nvPr/>
        </p:nvSpPr>
        <p:spPr>
          <a:xfrm>
            <a:off x="7836882" y="6234101"/>
            <a:ext cx="7707571" cy="2719399"/>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Applications: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Implementing data structures like stacks and queues.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Maintaining a list of items where frequent insertions and deletions are required.</a:t>
            </a:r>
          </a:p>
        </p:txBody>
      </p:sp>
      <p:pic>
        <p:nvPicPr>
          <p:cNvPr id="4" name="Picture 2" descr="How I Mastered Data Structures and Algorithms">
            <a:extLst>
              <a:ext uri="{FF2B5EF4-FFF2-40B4-BE49-F238E27FC236}">
                <a16:creationId xmlns:a16="http://schemas.microsoft.com/office/drawing/2014/main" id="{A651EBBA-66C3-27B4-BA14-7BE0E2B5CD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720" r="32485" b="64352"/>
          <a:stretch/>
        </p:blipFill>
        <p:spPr bwMode="auto">
          <a:xfrm>
            <a:off x="1208225" y="1501420"/>
            <a:ext cx="5334000" cy="2892262"/>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Group 48">
            <a:extLst>
              <a:ext uri="{FF2B5EF4-FFF2-40B4-BE49-F238E27FC236}">
                <a16:creationId xmlns:a16="http://schemas.microsoft.com/office/drawing/2014/main" id="{B6D3BC95-5253-4F11-B75C-889ABB4A96B5}"/>
              </a:ext>
            </a:extLst>
          </p:cNvPr>
          <p:cNvGrpSpPr/>
          <p:nvPr/>
        </p:nvGrpSpPr>
        <p:grpSpPr>
          <a:xfrm>
            <a:off x="1504154" y="4384837"/>
            <a:ext cx="5038071" cy="2892263"/>
            <a:chOff x="1504154" y="4469650"/>
            <a:chExt cx="5038071" cy="2892263"/>
          </a:xfrm>
        </p:grpSpPr>
        <p:grpSp>
          <p:nvGrpSpPr>
            <p:cNvPr id="5" name="Group 4">
              <a:extLst>
                <a:ext uri="{FF2B5EF4-FFF2-40B4-BE49-F238E27FC236}">
                  <a16:creationId xmlns:a16="http://schemas.microsoft.com/office/drawing/2014/main" id="{D8F67AD3-D83D-E61C-5A1F-D9EF851C330F}"/>
                </a:ext>
              </a:extLst>
            </p:cNvPr>
            <p:cNvGrpSpPr/>
            <p:nvPr/>
          </p:nvGrpSpPr>
          <p:grpSpPr>
            <a:xfrm>
              <a:off x="1504154" y="4469650"/>
              <a:ext cx="5038071" cy="2892263"/>
              <a:chOff x="1028700" y="1078797"/>
              <a:chExt cx="5038071" cy="3742296"/>
            </a:xfrm>
          </p:grpSpPr>
          <p:grpSp>
            <p:nvGrpSpPr>
              <p:cNvPr id="6" name="Group 3">
                <a:extLst>
                  <a:ext uri="{FF2B5EF4-FFF2-40B4-BE49-F238E27FC236}">
                    <a16:creationId xmlns:a16="http://schemas.microsoft.com/office/drawing/2014/main" id="{2C132597-7446-CFF4-74DF-C19337E08B82}"/>
                  </a:ext>
                </a:extLst>
              </p:cNvPr>
              <p:cNvGrpSpPr/>
              <p:nvPr/>
            </p:nvGrpSpPr>
            <p:grpSpPr>
              <a:xfrm>
                <a:off x="1028700" y="1078797"/>
                <a:ext cx="5038071" cy="3742296"/>
                <a:chOff x="0" y="-38100"/>
                <a:chExt cx="1048738" cy="779006"/>
              </a:xfrm>
            </p:grpSpPr>
            <p:sp>
              <p:nvSpPr>
                <p:cNvPr id="15" name="Freeform 4">
                  <a:extLst>
                    <a:ext uri="{FF2B5EF4-FFF2-40B4-BE49-F238E27FC236}">
                      <a16:creationId xmlns:a16="http://schemas.microsoft.com/office/drawing/2014/main" id="{E13DF740-5C64-B250-68BE-5606E8891373}"/>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16" name="TextBox 5">
                  <a:extLst>
                    <a:ext uri="{FF2B5EF4-FFF2-40B4-BE49-F238E27FC236}">
                      <a16:creationId xmlns:a16="http://schemas.microsoft.com/office/drawing/2014/main" id="{0E0C22CF-0DDD-1DE3-F8F9-D1659984D939}"/>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10" name="Group 15">
                <a:extLst>
                  <a:ext uri="{FF2B5EF4-FFF2-40B4-BE49-F238E27FC236}">
                    <a16:creationId xmlns:a16="http://schemas.microsoft.com/office/drawing/2014/main" id="{EE500352-7EEF-375B-D67A-7A3098DEDCD3}"/>
                  </a:ext>
                </a:extLst>
              </p:cNvPr>
              <p:cNvGrpSpPr/>
              <p:nvPr/>
            </p:nvGrpSpPr>
            <p:grpSpPr>
              <a:xfrm>
                <a:off x="1028700" y="1261827"/>
                <a:ext cx="5038071" cy="668736"/>
                <a:chOff x="0" y="0"/>
                <a:chExt cx="1048738" cy="139206"/>
              </a:xfrm>
            </p:grpSpPr>
            <p:sp>
              <p:nvSpPr>
                <p:cNvPr id="13" name="Freeform 16">
                  <a:extLst>
                    <a:ext uri="{FF2B5EF4-FFF2-40B4-BE49-F238E27FC236}">
                      <a16:creationId xmlns:a16="http://schemas.microsoft.com/office/drawing/2014/main" id="{5F5647DA-C41C-57A3-F7E5-E01E3CC92B0A}"/>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14" name="TextBox 13">
                  <a:extLst>
                    <a:ext uri="{FF2B5EF4-FFF2-40B4-BE49-F238E27FC236}">
                      <a16:creationId xmlns:a16="http://schemas.microsoft.com/office/drawing/2014/main" id="{0E253B19-6F5A-BA95-6812-43C14D9BCC86}"/>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11" name="TextBox 28">
                <a:extLst>
                  <a:ext uri="{FF2B5EF4-FFF2-40B4-BE49-F238E27FC236}">
                    <a16:creationId xmlns:a16="http://schemas.microsoft.com/office/drawing/2014/main" id="{FACD6415-EEBF-87E1-B70D-13B5200CE6C3}"/>
                  </a:ext>
                </a:extLst>
              </p:cNvPr>
              <p:cNvSpPr txBox="1"/>
              <p:nvPr/>
            </p:nvSpPr>
            <p:spPr>
              <a:xfrm>
                <a:off x="1345712" y="1452532"/>
                <a:ext cx="3739422" cy="347374"/>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Advantages</a:t>
                </a:r>
              </a:p>
            </p:txBody>
          </p:sp>
          <p:sp>
            <p:nvSpPr>
              <p:cNvPr id="12" name="TextBox 32">
                <a:extLst>
                  <a:ext uri="{FF2B5EF4-FFF2-40B4-BE49-F238E27FC236}">
                    <a16:creationId xmlns:a16="http://schemas.microsoft.com/office/drawing/2014/main" id="{7051395A-6EE4-29F7-057E-D681647B997C}"/>
                  </a:ext>
                </a:extLst>
              </p:cNvPr>
              <p:cNvSpPr txBox="1"/>
              <p:nvPr/>
            </p:nvSpPr>
            <p:spPr>
              <a:xfrm>
                <a:off x="1345712" y="2381811"/>
                <a:ext cx="4137951" cy="387530"/>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Dynamic size</a:t>
                </a:r>
              </a:p>
            </p:txBody>
          </p:sp>
        </p:grpSp>
        <p:sp>
          <p:nvSpPr>
            <p:cNvPr id="17" name="TextBox 32">
              <a:extLst>
                <a:ext uri="{FF2B5EF4-FFF2-40B4-BE49-F238E27FC236}">
                  <a16:creationId xmlns:a16="http://schemas.microsoft.com/office/drawing/2014/main" id="{E1C14E59-8AF1-BB55-C3D1-C8C94647E15C}"/>
                </a:ext>
              </a:extLst>
            </p:cNvPr>
            <p:cNvSpPr txBox="1"/>
            <p:nvPr/>
          </p:nvSpPr>
          <p:spPr>
            <a:xfrm>
              <a:off x="1821166" y="5964791"/>
              <a:ext cx="4137951" cy="299506"/>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No memory wastage</a:t>
              </a:r>
              <a:endParaRPr lang="en-US" sz="2400" u="none" spc="96" dirty="0">
                <a:solidFill>
                  <a:srgbClr val="000000"/>
                </a:solidFill>
                <a:latin typeface="DM Sans"/>
                <a:ea typeface="DM Sans"/>
                <a:cs typeface="DM Sans"/>
                <a:sym typeface="DM Sans"/>
              </a:endParaRPr>
            </a:p>
          </p:txBody>
        </p:sp>
        <p:sp>
          <p:nvSpPr>
            <p:cNvPr id="18" name="TextBox 32">
              <a:extLst>
                <a:ext uri="{FF2B5EF4-FFF2-40B4-BE49-F238E27FC236}">
                  <a16:creationId xmlns:a16="http://schemas.microsoft.com/office/drawing/2014/main" id="{CEA33911-2C15-4D35-524B-7CAAD3AF3A10}"/>
                </a:ext>
              </a:extLst>
            </p:cNvPr>
            <p:cNvSpPr txBox="1"/>
            <p:nvPr/>
          </p:nvSpPr>
          <p:spPr>
            <a:xfrm>
              <a:off x="1828800" y="6438900"/>
              <a:ext cx="4137951" cy="581634"/>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Efficient Insertions and deletions</a:t>
              </a:r>
              <a:endParaRPr lang="en-US" sz="2400" u="none" spc="96" dirty="0">
                <a:solidFill>
                  <a:srgbClr val="000000"/>
                </a:solidFill>
                <a:latin typeface="DM Sans"/>
                <a:ea typeface="DM Sans"/>
                <a:cs typeface="DM Sans"/>
                <a:sym typeface="DM Sans"/>
              </a:endParaRPr>
            </a:p>
          </p:txBody>
        </p:sp>
      </p:grpSp>
      <p:grpSp>
        <p:nvGrpSpPr>
          <p:cNvPr id="19" name="Group 18">
            <a:extLst>
              <a:ext uri="{FF2B5EF4-FFF2-40B4-BE49-F238E27FC236}">
                <a16:creationId xmlns:a16="http://schemas.microsoft.com/office/drawing/2014/main" id="{F55923EF-89DB-4EF2-580B-3C06E02C45F5}"/>
              </a:ext>
            </a:extLst>
          </p:cNvPr>
          <p:cNvGrpSpPr/>
          <p:nvPr/>
        </p:nvGrpSpPr>
        <p:grpSpPr>
          <a:xfrm>
            <a:off x="1504153" y="7277100"/>
            <a:ext cx="5038071" cy="2892263"/>
            <a:chOff x="1028700" y="1078797"/>
            <a:chExt cx="5038071" cy="3742296"/>
          </a:xfrm>
        </p:grpSpPr>
        <p:grpSp>
          <p:nvGrpSpPr>
            <p:cNvPr id="20" name="Group 3">
              <a:extLst>
                <a:ext uri="{FF2B5EF4-FFF2-40B4-BE49-F238E27FC236}">
                  <a16:creationId xmlns:a16="http://schemas.microsoft.com/office/drawing/2014/main" id="{D24F1793-C772-25AF-A169-9CAF745A79E6}"/>
                </a:ext>
              </a:extLst>
            </p:cNvPr>
            <p:cNvGrpSpPr/>
            <p:nvPr/>
          </p:nvGrpSpPr>
          <p:grpSpPr>
            <a:xfrm>
              <a:off x="1028700" y="1078797"/>
              <a:ext cx="5038071" cy="3742296"/>
              <a:chOff x="0" y="-38100"/>
              <a:chExt cx="1048738" cy="779006"/>
            </a:xfrm>
          </p:grpSpPr>
          <p:sp>
            <p:nvSpPr>
              <p:cNvPr id="47" name="Freeform 4">
                <a:extLst>
                  <a:ext uri="{FF2B5EF4-FFF2-40B4-BE49-F238E27FC236}">
                    <a16:creationId xmlns:a16="http://schemas.microsoft.com/office/drawing/2014/main" id="{78C599C9-65AF-6231-6E76-43BC6360C2EE}"/>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48" name="TextBox 5">
                <a:extLst>
                  <a:ext uri="{FF2B5EF4-FFF2-40B4-BE49-F238E27FC236}">
                    <a16:creationId xmlns:a16="http://schemas.microsoft.com/office/drawing/2014/main" id="{A7D485F7-97F5-F99C-2886-B704F4932802}"/>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42" name="Group 15">
              <a:extLst>
                <a:ext uri="{FF2B5EF4-FFF2-40B4-BE49-F238E27FC236}">
                  <a16:creationId xmlns:a16="http://schemas.microsoft.com/office/drawing/2014/main" id="{BB4C34EC-3ABD-8AD6-4681-13A4682C416A}"/>
                </a:ext>
              </a:extLst>
            </p:cNvPr>
            <p:cNvGrpSpPr/>
            <p:nvPr/>
          </p:nvGrpSpPr>
          <p:grpSpPr>
            <a:xfrm>
              <a:off x="1028700" y="1261827"/>
              <a:ext cx="5038071" cy="668736"/>
              <a:chOff x="0" y="0"/>
              <a:chExt cx="1048738" cy="139206"/>
            </a:xfrm>
          </p:grpSpPr>
          <p:sp>
            <p:nvSpPr>
              <p:cNvPr id="45" name="Freeform 16">
                <a:extLst>
                  <a:ext uri="{FF2B5EF4-FFF2-40B4-BE49-F238E27FC236}">
                    <a16:creationId xmlns:a16="http://schemas.microsoft.com/office/drawing/2014/main" id="{281885B2-1B04-3C53-6E0B-C97859EBBA54}"/>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46" name="TextBox 45">
                <a:extLst>
                  <a:ext uri="{FF2B5EF4-FFF2-40B4-BE49-F238E27FC236}">
                    <a16:creationId xmlns:a16="http://schemas.microsoft.com/office/drawing/2014/main" id="{DDBFCDB2-7FFD-F0F9-BBAF-390E1C8BEDE3}"/>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43" name="TextBox 28">
              <a:extLst>
                <a:ext uri="{FF2B5EF4-FFF2-40B4-BE49-F238E27FC236}">
                  <a16:creationId xmlns:a16="http://schemas.microsoft.com/office/drawing/2014/main" id="{60DE23BB-8434-86C4-3DBC-98F08469FFDD}"/>
                </a:ext>
              </a:extLst>
            </p:cNvPr>
            <p:cNvSpPr txBox="1"/>
            <p:nvPr/>
          </p:nvSpPr>
          <p:spPr>
            <a:xfrm>
              <a:off x="1345712" y="1452532"/>
              <a:ext cx="3739422" cy="414825"/>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Disadvantages</a:t>
              </a:r>
            </a:p>
          </p:txBody>
        </p:sp>
        <p:sp>
          <p:nvSpPr>
            <p:cNvPr id="44" name="TextBox 32">
              <a:extLst>
                <a:ext uri="{FF2B5EF4-FFF2-40B4-BE49-F238E27FC236}">
                  <a16:creationId xmlns:a16="http://schemas.microsoft.com/office/drawing/2014/main" id="{C90BCFBE-6E87-6BEC-228E-5C2D0BC922FE}"/>
                </a:ext>
              </a:extLst>
            </p:cNvPr>
            <p:cNvSpPr txBox="1"/>
            <p:nvPr/>
          </p:nvSpPr>
          <p:spPr>
            <a:xfrm>
              <a:off x="1345712" y="2381811"/>
              <a:ext cx="4137951" cy="387530"/>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Memory Overhead</a:t>
              </a:r>
            </a:p>
          </p:txBody>
        </p:sp>
      </p:grpSp>
      <p:sp>
        <p:nvSpPr>
          <p:cNvPr id="50" name="TextBox 32">
            <a:extLst>
              <a:ext uri="{FF2B5EF4-FFF2-40B4-BE49-F238E27FC236}">
                <a16:creationId xmlns:a16="http://schemas.microsoft.com/office/drawing/2014/main" id="{EF006B28-02BD-F179-D144-3BB11CAEB5C7}"/>
              </a:ext>
            </a:extLst>
          </p:cNvPr>
          <p:cNvSpPr txBox="1"/>
          <p:nvPr/>
        </p:nvSpPr>
        <p:spPr>
          <a:xfrm>
            <a:off x="1851645" y="8755983"/>
            <a:ext cx="4137951" cy="299506"/>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Sequential Access</a:t>
            </a:r>
          </a:p>
        </p:txBody>
      </p:sp>
      <p:sp>
        <p:nvSpPr>
          <p:cNvPr id="51" name="TextBox 32">
            <a:extLst>
              <a:ext uri="{FF2B5EF4-FFF2-40B4-BE49-F238E27FC236}">
                <a16:creationId xmlns:a16="http://schemas.microsoft.com/office/drawing/2014/main" id="{5DDCBE24-C454-B013-5A80-34C3ED21FE54}"/>
              </a:ext>
            </a:extLst>
          </p:cNvPr>
          <p:cNvSpPr txBox="1"/>
          <p:nvPr/>
        </p:nvSpPr>
        <p:spPr>
          <a:xfrm>
            <a:off x="1828800" y="9247115"/>
            <a:ext cx="4137951" cy="299506"/>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Less Cache friendly</a:t>
            </a:r>
          </a:p>
        </p:txBody>
      </p:sp>
    </p:spTree>
    <p:extLst>
      <p:ext uri="{BB962C8B-B14F-4D97-AF65-F5344CB8AC3E}">
        <p14:creationId xmlns:p14="http://schemas.microsoft.com/office/powerpoint/2010/main" val="972995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3" name="AutoShape 3"/>
          <p:cNvSpPr/>
          <p:nvPr/>
        </p:nvSpPr>
        <p:spPr>
          <a:xfrm>
            <a:off x="-886757" y="5074942"/>
            <a:ext cx="20061513" cy="0"/>
          </a:xfrm>
          <a:prstGeom prst="line">
            <a:avLst/>
          </a:prstGeom>
          <a:ln w="28575" cap="flat">
            <a:solidFill>
              <a:srgbClr val="000000"/>
            </a:solidFill>
            <a:prstDash val="solid"/>
            <a:headEnd type="none" w="sm" len="sm"/>
            <a:tailEnd type="none" w="sm" len="sm"/>
          </a:ln>
        </p:spPr>
      </p:sp>
      <p:grpSp>
        <p:nvGrpSpPr>
          <p:cNvPr id="4" name="Group 4"/>
          <p:cNvGrpSpPr/>
          <p:nvPr/>
        </p:nvGrpSpPr>
        <p:grpSpPr>
          <a:xfrm>
            <a:off x="9061974" y="4823914"/>
            <a:ext cx="502056" cy="50205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id="6" name="TextBox 6"/>
            <p:cNvSpPr txBox="1"/>
            <p:nvPr/>
          </p:nvSpPr>
          <p:spPr>
            <a:xfrm>
              <a:off x="190500" y="219075"/>
              <a:ext cx="431800" cy="403225"/>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7" name="Group 7"/>
          <p:cNvGrpSpPr/>
          <p:nvPr/>
        </p:nvGrpSpPr>
        <p:grpSpPr>
          <a:xfrm>
            <a:off x="2227066" y="4823914"/>
            <a:ext cx="502056" cy="50205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id="9" name="TextBox 9"/>
            <p:cNvSpPr txBox="1"/>
            <p:nvPr/>
          </p:nvSpPr>
          <p:spPr>
            <a:xfrm>
              <a:off x="190500" y="219075"/>
              <a:ext cx="431800" cy="403225"/>
            </a:xfrm>
            <a:prstGeom prst="rect">
              <a:avLst/>
            </a:prstGeom>
          </p:spPr>
          <p:txBody>
            <a:bodyPr lIns="50800" tIns="50800" rIns="50800" bIns="50800" rtlCol="0" anchor="ctr"/>
            <a:lstStyle/>
            <a:p>
              <a:pPr algn="ctr">
                <a:lnSpc>
                  <a:spcPts val="2266"/>
                </a:lnSpc>
              </a:pPr>
              <a:endParaRPr/>
            </a:p>
          </p:txBody>
        </p:sp>
      </p:grpSp>
      <p:grpSp>
        <p:nvGrpSpPr>
          <p:cNvPr id="10" name="Group 10"/>
          <p:cNvGrpSpPr/>
          <p:nvPr/>
        </p:nvGrpSpPr>
        <p:grpSpPr>
          <a:xfrm>
            <a:off x="14929374" y="4823914"/>
            <a:ext cx="502056" cy="50205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id="12" name="TextBox 12"/>
            <p:cNvSpPr txBox="1"/>
            <p:nvPr/>
          </p:nvSpPr>
          <p:spPr>
            <a:xfrm>
              <a:off x="190500" y="219075"/>
              <a:ext cx="431800" cy="403225"/>
            </a:xfrm>
            <a:prstGeom prst="rect">
              <a:avLst/>
            </a:prstGeom>
          </p:spPr>
          <p:txBody>
            <a:bodyPr lIns="50800" tIns="50800" rIns="50800" bIns="50800" rtlCol="0" anchor="ctr"/>
            <a:lstStyle/>
            <a:p>
              <a:pPr marL="0" lvl="0" indent="0" algn="ctr">
                <a:lnSpc>
                  <a:spcPts val="2266"/>
                </a:lnSpc>
                <a:spcBef>
                  <a:spcPct val="0"/>
                </a:spcBef>
              </a:pPr>
              <a:endParaRPr/>
            </a:p>
          </p:txBody>
        </p:sp>
      </p:grpSp>
      <p:sp>
        <p:nvSpPr>
          <p:cNvPr id="17" name="TextBox 17"/>
          <p:cNvSpPr txBox="1"/>
          <p:nvPr/>
        </p:nvSpPr>
        <p:spPr>
          <a:xfrm>
            <a:off x="2227066" y="5616041"/>
            <a:ext cx="2197323" cy="679451"/>
          </a:xfrm>
          <a:prstGeom prst="rect">
            <a:avLst/>
          </a:prstGeom>
        </p:spPr>
        <p:txBody>
          <a:bodyPr lIns="0" tIns="0" rIns="0" bIns="0" rtlCol="0" anchor="t">
            <a:spAutoFit/>
          </a:bodyPr>
          <a:lstStyle/>
          <a:p>
            <a:pPr algn="l">
              <a:lnSpc>
                <a:spcPts val="5150"/>
              </a:lnSpc>
            </a:pPr>
            <a:r>
              <a:rPr lang="en-US" sz="5000" b="1">
                <a:solidFill>
                  <a:srgbClr val="000000"/>
                </a:solidFill>
                <a:latin typeface="DM Sans Bold"/>
                <a:ea typeface="DM Sans Bold"/>
                <a:cs typeface="DM Sans Bold"/>
                <a:sym typeface="DM Sans Bold"/>
              </a:rPr>
              <a:t>01</a:t>
            </a:r>
          </a:p>
        </p:txBody>
      </p:sp>
      <p:sp>
        <p:nvSpPr>
          <p:cNvPr id="18" name="TextBox 18"/>
          <p:cNvSpPr txBox="1"/>
          <p:nvPr/>
        </p:nvSpPr>
        <p:spPr>
          <a:xfrm>
            <a:off x="9080277" y="5616041"/>
            <a:ext cx="2197323" cy="679451"/>
          </a:xfrm>
          <a:prstGeom prst="rect">
            <a:avLst/>
          </a:prstGeom>
        </p:spPr>
        <p:txBody>
          <a:bodyPr lIns="0" tIns="0" rIns="0" bIns="0" rtlCol="0" anchor="t">
            <a:spAutoFit/>
          </a:bodyPr>
          <a:lstStyle/>
          <a:p>
            <a:pPr algn="l">
              <a:lnSpc>
                <a:spcPts val="5150"/>
              </a:lnSpc>
            </a:pPr>
            <a:r>
              <a:rPr lang="en-US" sz="5000" b="1">
                <a:solidFill>
                  <a:srgbClr val="000000"/>
                </a:solidFill>
                <a:latin typeface="DM Sans Bold"/>
                <a:ea typeface="DM Sans Bold"/>
                <a:cs typeface="DM Sans Bold"/>
                <a:sym typeface="DM Sans Bold"/>
              </a:rPr>
              <a:t>02</a:t>
            </a:r>
          </a:p>
        </p:txBody>
      </p:sp>
      <p:sp>
        <p:nvSpPr>
          <p:cNvPr id="19" name="TextBox 19"/>
          <p:cNvSpPr txBox="1"/>
          <p:nvPr/>
        </p:nvSpPr>
        <p:spPr>
          <a:xfrm>
            <a:off x="1151031" y="6341646"/>
            <a:ext cx="3273358" cy="331116"/>
          </a:xfrm>
          <a:prstGeom prst="rect">
            <a:avLst/>
          </a:prstGeom>
        </p:spPr>
        <p:txBody>
          <a:bodyPr wrap="square" lIns="0" tIns="0" rIns="0" bIns="0" rtlCol="0" anchor="t">
            <a:spAutoFit/>
          </a:bodyPr>
          <a:lstStyle/>
          <a:p>
            <a:pPr algn="l">
              <a:lnSpc>
                <a:spcPts val="2340"/>
              </a:lnSpc>
            </a:pPr>
            <a:r>
              <a:rPr lang="en-US" sz="3000" dirty="0">
                <a:solidFill>
                  <a:srgbClr val="000000"/>
                </a:solidFill>
                <a:latin typeface="DM Sans"/>
                <a:ea typeface="DM Sans"/>
                <a:cs typeface="DM Sans"/>
                <a:sym typeface="DM Sans"/>
              </a:rPr>
              <a:t>Singly Linked List</a:t>
            </a:r>
          </a:p>
        </p:txBody>
      </p:sp>
      <p:sp>
        <p:nvSpPr>
          <p:cNvPr id="21" name="TextBox 21"/>
          <p:cNvSpPr txBox="1"/>
          <p:nvPr/>
        </p:nvSpPr>
        <p:spPr>
          <a:xfrm>
            <a:off x="14947677" y="5616041"/>
            <a:ext cx="2197323" cy="679451"/>
          </a:xfrm>
          <a:prstGeom prst="rect">
            <a:avLst/>
          </a:prstGeom>
        </p:spPr>
        <p:txBody>
          <a:bodyPr lIns="0" tIns="0" rIns="0" bIns="0" rtlCol="0" anchor="t">
            <a:spAutoFit/>
          </a:bodyPr>
          <a:lstStyle/>
          <a:p>
            <a:pPr algn="l">
              <a:lnSpc>
                <a:spcPts val="5150"/>
              </a:lnSpc>
            </a:pPr>
            <a:r>
              <a:rPr lang="en-US" sz="5000" b="1" dirty="0">
                <a:solidFill>
                  <a:srgbClr val="000000"/>
                </a:solidFill>
                <a:latin typeface="DM Sans Bold"/>
                <a:ea typeface="DM Sans Bold"/>
                <a:cs typeface="DM Sans Bold"/>
                <a:sym typeface="DM Sans Bold"/>
              </a:rPr>
              <a:t>03</a:t>
            </a:r>
          </a:p>
        </p:txBody>
      </p:sp>
      <p:sp>
        <p:nvSpPr>
          <p:cNvPr id="25" name="Freeform 25"/>
          <p:cNvSpPr/>
          <p:nvPr/>
        </p:nvSpPr>
        <p:spPr>
          <a:xfrm>
            <a:off x="-1573240" y="8893298"/>
            <a:ext cx="4051334" cy="2765036"/>
          </a:xfrm>
          <a:custGeom>
            <a:avLst/>
            <a:gdLst/>
            <a:ahLst/>
            <a:cxnLst/>
            <a:rect l="l" t="t" r="r" b="b"/>
            <a:pathLst>
              <a:path w="4051334" h="2765036">
                <a:moveTo>
                  <a:pt x="0" y="0"/>
                </a:moveTo>
                <a:lnTo>
                  <a:pt x="4051334" y="0"/>
                </a:lnTo>
                <a:lnTo>
                  <a:pt x="4051334" y="2765036"/>
                </a:lnTo>
                <a:lnTo>
                  <a:pt x="0" y="27650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6" name="Freeform 26"/>
          <p:cNvSpPr/>
          <p:nvPr/>
        </p:nvSpPr>
        <p:spPr>
          <a:xfrm>
            <a:off x="15262955" y="8864586"/>
            <a:ext cx="4602314" cy="3618569"/>
          </a:xfrm>
          <a:custGeom>
            <a:avLst/>
            <a:gdLst/>
            <a:ahLst/>
            <a:cxnLst/>
            <a:rect l="l" t="t" r="r" b="b"/>
            <a:pathLst>
              <a:path w="4602314" h="3618569">
                <a:moveTo>
                  <a:pt x="0" y="0"/>
                </a:moveTo>
                <a:lnTo>
                  <a:pt x="4602314" y="0"/>
                </a:lnTo>
                <a:lnTo>
                  <a:pt x="4602314" y="3618569"/>
                </a:lnTo>
                <a:lnTo>
                  <a:pt x="0" y="3618569"/>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27" name="Freeform 27"/>
          <p:cNvSpPr/>
          <p:nvPr/>
        </p:nvSpPr>
        <p:spPr>
          <a:xfrm>
            <a:off x="-674156" y="-1322787"/>
            <a:ext cx="4224468" cy="2645573"/>
          </a:xfrm>
          <a:custGeom>
            <a:avLst/>
            <a:gdLst/>
            <a:ahLst/>
            <a:cxnLst/>
            <a:rect l="l" t="t" r="r" b="b"/>
            <a:pathLst>
              <a:path w="4224468" h="2645573">
                <a:moveTo>
                  <a:pt x="0" y="0"/>
                </a:moveTo>
                <a:lnTo>
                  <a:pt x="4224468" y="0"/>
                </a:lnTo>
                <a:lnTo>
                  <a:pt x="4224468" y="2645574"/>
                </a:lnTo>
                <a:lnTo>
                  <a:pt x="0" y="2645574"/>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28" name="Freeform 28"/>
          <p:cNvSpPr/>
          <p:nvPr/>
        </p:nvSpPr>
        <p:spPr>
          <a:xfrm>
            <a:off x="11101574" y="9560661"/>
            <a:ext cx="3169280" cy="2226419"/>
          </a:xfrm>
          <a:custGeom>
            <a:avLst/>
            <a:gdLst/>
            <a:ahLst/>
            <a:cxnLst/>
            <a:rect l="l" t="t" r="r" b="b"/>
            <a:pathLst>
              <a:path w="3169280" h="2226419">
                <a:moveTo>
                  <a:pt x="0" y="0"/>
                </a:moveTo>
                <a:lnTo>
                  <a:pt x="3169280" y="0"/>
                </a:lnTo>
                <a:lnTo>
                  <a:pt x="3169280" y="2226419"/>
                </a:lnTo>
                <a:lnTo>
                  <a:pt x="0" y="2226419"/>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29" name="Freeform 29"/>
          <p:cNvSpPr/>
          <p:nvPr/>
        </p:nvSpPr>
        <p:spPr>
          <a:xfrm>
            <a:off x="9653627" y="-3037933"/>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30" name="Freeform 30"/>
          <p:cNvSpPr/>
          <p:nvPr/>
        </p:nvSpPr>
        <p:spPr>
          <a:xfrm rot="-5400000">
            <a:off x="4745771" y="-1877331"/>
            <a:ext cx="2892762" cy="2919301"/>
          </a:xfrm>
          <a:custGeom>
            <a:avLst/>
            <a:gdLst/>
            <a:ahLst/>
            <a:cxnLst/>
            <a:rect l="l" t="t" r="r" b="b"/>
            <a:pathLst>
              <a:path w="2892762" h="2919301">
                <a:moveTo>
                  <a:pt x="0" y="0"/>
                </a:moveTo>
                <a:lnTo>
                  <a:pt x="2892761" y="0"/>
                </a:lnTo>
                <a:lnTo>
                  <a:pt x="2892761" y="2919301"/>
                </a:lnTo>
                <a:lnTo>
                  <a:pt x="0" y="2919301"/>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31" name="Freeform 31"/>
          <p:cNvSpPr/>
          <p:nvPr/>
        </p:nvSpPr>
        <p:spPr>
          <a:xfrm>
            <a:off x="2932282" y="9271808"/>
            <a:ext cx="2587020" cy="2386526"/>
          </a:xfrm>
          <a:custGeom>
            <a:avLst/>
            <a:gdLst/>
            <a:ahLst/>
            <a:cxnLst/>
            <a:rect l="l" t="t" r="r" b="b"/>
            <a:pathLst>
              <a:path w="2587020" h="2386526">
                <a:moveTo>
                  <a:pt x="0" y="0"/>
                </a:moveTo>
                <a:lnTo>
                  <a:pt x="2587020" y="0"/>
                </a:lnTo>
                <a:lnTo>
                  <a:pt x="2587020" y="2386526"/>
                </a:lnTo>
                <a:lnTo>
                  <a:pt x="0" y="2386526"/>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32" name="Freeform 32"/>
          <p:cNvSpPr/>
          <p:nvPr/>
        </p:nvSpPr>
        <p:spPr>
          <a:xfrm>
            <a:off x="15262955" y="-1072630"/>
            <a:ext cx="1996345" cy="2149497"/>
          </a:xfrm>
          <a:custGeom>
            <a:avLst/>
            <a:gdLst/>
            <a:ahLst/>
            <a:cxnLst/>
            <a:rect l="l" t="t" r="r" b="b"/>
            <a:pathLst>
              <a:path w="1996345" h="2149497">
                <a:moveTo>
                  <a:pt x="0" y="0"/>
                </a:moveTo>
                <a:lnTo>
                  <a:pt x="1996345" y="0"/>
                </a:lnTo>
                <a:lnTo>
                  <a:pt x="1996345" y="2149497"/>
                </a:lnTo>
                <a:lnTo>
                  <a:pt x="0" y="2149497"/>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33" name="TextBox 19">
            <a:extLst>
              <a:ext uri="{FF2B5EF4-FFF2-40B4-BE49-F238E27FC236}">
                <a16:creationId xmlns:a16="http://schemas.microsoft.com/office/drawing/2014/main" id="{DF88358E-A8B3-D244-98DA-0926CC2983AB}"/>
              </a:ext>
            </a:extLst>
          </p:cNvPr>
          <p:cNvSpPr txBox="1"/>
          <p:nvPr/>
        </p:nvSpPr>
        <p:spPr>
          <a:xfrm>
            <a:off x="7973762" y="6295492"/>
            <a:ext cx="3273358" cy="331116"/>
          </a:xfrm>
          <a:prstGeom prst="rect">
            <a:avLst/>
          </a:prstGeom>
        </p:spPr>
        <p:txBody>
          <a:bodyPr wrap="square" lIns="0" tIns="0" rIns="0" bIns="0" rtlCol="0" anchor="t">
            <a:spAutoFit/>
          </a:bodyPr>
          <a:lstStyle/>
          <a:p>
            <a:pPr algn="l">
              <a:lnSpc>
                <a:spcPts val="2340"/>
              </a:lnSpc>
            </a:pPr>
            <a:r>
              <a:rPr lang="en-US" sz="3000" dirty="0">
                <a:solidFill>
                  <a:srgbClr val="000000"/>
                </a:solidFill>
                <a:latin typeface="DM Sans"/>
                <a:ea typeface="DM Sans"/>
                <a:cs typeface="DM Sans"/>
                <a:sym typeface="DM Sans"/>
              </a:rPr>
              <a:t>Doubly Linked List</a:t>
            </a:r>
          </a:p>
        </p:txBody>
      </p:sp>
      <p:sp>
        <p:nvSpPr>
          <p:cNvPr id="34" name="TextBox 19">
            <a:extLst>
              <a:ext uri="{FF2B5EF4-FFF2-40B4-BE49-F238E27FC236}">
                <a16:creationId xmlns:a16="http://schemas.microsoft.com/office/drawing/2014/main" id="{9E9C2102-285E-7E5C-C9BD-D2442D95820C}"/>
              </a:ext>
            </a:extLst>
          </p:cNvPr>
          <p:cNvSpPr txBox="1"/>
          <p:nvPr/>
        </p:nvSpPr>
        <p:spPr>
          <a:xfrm>
            <a:off x="13677080" y="6295492"/>
            <a:ext cx="3467919" cy="331116"/>
          </a:xfrm>
          <a:prstGeom prst="rect">
            <a:avLst/>
          </a:prstGeom>
        </p:spPr>
        <p:txBody>
          <a:bodyPr wrap="square" lIns="0" tIns="0" rIns="0" bIns="0" rtlCol="0" anchor="t">
            <a:spAutoFit/>
          </a:bodyPr>
          <a:lstStyle/>
          <a:p>
            <a:pPr algn="l">
              <a:lnSpc>
                <a:spcPts val="2340"/>
              </a:lnSpc>
            </a:pPr>
            <a:r>
              <a:rPr lang="en-US" sz="3000" dirty="0">
                <a:solidFill>
                  <a:srgbClr val="000000"/>
                </a:solidFill>
                <a:latin typeface="DM Sans"/>
                <a:ea typeface="DM Sans"/>
                <a:cs typeface="DM Sans"/>
                <a:sym typeface="DM Sans"/>
              </a:rPr>
              <a:t>Circular Linked List</a:t>
            </a:r>
          </a:p>
        </p:txBody>
      </p:sp>
      <p:pic>
        <p:nvPicPr>
          <p:cNvPr id="39" name="Picture 38">
            <a:extLst>
              <a:ext uri="{FF2B5EF4-FFF2-40B4-BE49-F238E27FC236}">
                <a16:creationId xmlns:a16="http://schemas.microsoft.com/office/drawing/2014/main" id="{B5EB9124-DBA3-1553-C0A6-264779F061B2}"/>
              </a:ext>
            </a:extLst>
          </p:cNvPr>
          <p:cNvPicPr>
            <a:picLocks noChangeAspect="1"/>
          </p:cNvPicPr>
          <p:nvPr/>
        </p:nvPicPr>
        <p:blipFill>
          <a:blip r:embed="rId19"/>
          <a:srcRect r="16136"/>
          <a:stretch/>
        </p:blipFill>
        <p:spPr>
          <a:xfrm>
            <a:off x="354228" y="2580503"/>
            <a:ext cx="6231972" cy="1904813"/>
          </a:xfrm>
          <a:prstGeom prst="rect">
            <a:avLst/>
          </a:prstGeom>
        </p:spPr>
      </p:pic>
      <p:sp>
        <p:nvSpPr>
          <p:cNvPr id="40" name="Rectangle 39">
            <a:extLst>
              <a:ext uri="{FF2B5EF4-FFF2-40B4-BE49-F238E27FC236}">
                <a16:creationId xmlns:a16="http://schemas.microsoft.com/office/drawing/2014/main" id="{D25196C9-C30B-A0AA-121B-C24C3989EA89}"/>
              </a:ext>
            </a:extLst>
          </p:cNvPr>
          <p:cNvSpPr/>
          <p:nvPr/>
        </p:nvSpPr>
        <p:spPr>
          <a:xfrm>
            <a:off x="5431859" y="3430216"/>
            <a:ext cx="1154341" cy="57028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NULL</a:t>
            </a:r>
            <a:endParaRPr lang="en-IN" b="1" dirty="0">
              <a:solidFill>
                <a:schemeClr val="tx1"/>
              </a:solidFill>
            </a:endParaRPr>
          </a:p>
        </p:txBody>
      </p:sp>
      <p:pic>
        <p:nvPicPr>
          <p:cNvPr id="42" name="Picture 41">
            <a:extLst>
              <a:ext uri="{FF2B5EF4-FFF2-40B4-BE49-F238E27FC236}">
                <a16:creationId xmlns:a16="http://schemas.microsoft.com/office/drawing/2014/main" id="{E9A94827-3F1C-2862-8BFD-F899EEE34B2B}"/>
              </a:ext>
            </a:extLst>
          </p:cNvPr>
          <p:cNvPicPr>
            <a:picLocks noChangeAspect="1"/>
          </p:cNvPicPr>
          <p:nvPr/>
        </p:nvPicPr>
        <p:blipFill>
          <a:blip r:embed="rId20"/>
          <a:stretch>
            <a:fillRect/>
          </a:stretch>
        </p:blipFill>
        <p:spPr>
          <a:xfrm>
            <a:off x="5527160" y="7306059"/>
            <a:ext cx="8252934" cy="1508740"/>
          </a:xfrm>
          <a:prstGeom prst="rect">
            <a:avLst/>
          </a:prstGeom>
        </p:spPr>
      </p:pic>
      <p:pic>
        <p:nvPicPr>
          <p:cNvPr id="44" name="Picture 43">
            <a:extLst>
              <a:ext uri="{FF2B5EF4-FFF2-40B4-BE49-F238E27FC236}">
                <a16:creationId xmlns:a16="http://schemas.microsoft.com/office/drawing/2014/main" id="{D1351985-CBFB-301D-F791-145A4C321F05}"/>
              </a:ext>
            </a:extLst>
          </p:cNvPr>
          <p:cNvPicPr>
            <a:picLocks noChangeAspect="1"/>
          </p:cNvPicPr>
          <p:nvPr/>
        </p:nvPicPr>
        <p:blipFill>
          <a:blip r:embed="rId21"/>
          <a:stretch>
            <a:fillRect/>
          </a:stretch>
        </p:blipFill>
        <p:spPr>
          <a:xfrm>
            <a:off x="11887200" y="2456748"/>
            <a:ext cx="5707169" cy="1961379"/>
          </a:xfrm>
          <a:prstGeom prst="rect">
            <a:avLst/>
          </a:prstGeom>
        </p:spPr>
      </p:pic>
      <p:sp>
        <p:nvSpPr>
          <p:cNvPr id="16" name="TextBox 16"/>
          <p:cNvSpPr txBox="1"/>
          <p:nvPr/>
        </p:nvSpPr>
        <p:spPr>
          <a:xfrm>
            <a:off x="3128249" y="495300"/>
            <a:ext cx="12031499" cy="1166538"/>
          </a:xfrm>
          <a:prstGeom prst="rect">
            <a:avLst/>
          </a:prstGeom>
        </p:spPr>
        <p:txBody>
          <a:bodyPr wrap="square" lIns="0" tIns="0" rIns="0" bIns="0" rtlCol="0" anchor="t">
            <a:spAutoFit/>
          </a:bodyPr>
          <a:lstStyle/>
          <a:p>
            <a:pPr marL="0" lvl="1" indent="0" algn="ctr">
              <a:lnSpc>
                <a:spcPts val="8730"/>
              </a:lnSpc>
              <a:spcBef>
                <a:spcPct val="0"/>
              </a:spcBef>
            </a:pPr>
            <a:r>
              <a:rPr lang="en-US" sz="9000" b="1" dirty="0">
                <a:solidFill>
                  <a:srgbClr val="000000"/>
                </a:solidFill>
                <a:latin typeface="DM Sans Bold"/>
                <a:ea typeface="DM Sans Bold"/>
                <a:cs typeface="DM Sans Bold"/>
                <a:sym typeface="DM Sans Bold"/>
              </a:rPr>
              <a:t>Types of Linked List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4C734-364E-2116-A214-17904DCEADA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577636-05D6-703F-EC52-764ED8912507}"/>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IN" dirty="0"/>
          </a:p>
        </p:txBody>
      </p:sp>
      <p:sp>
        <p:nvSpPr>
          <p:cNvPr id="3" name="Freeform 3">
            <a:extLst>
              <a:ext uri="{FF2B5EF4-FFF2-40B4-BE49-F238E27FC236}">
                <a16:creationId xmlns:a16="http://schemas.microsoft.com/office/drawing/2014/main" id="{4E2621B7-3497-3727-8555-F8961BD6D564}"/>
              </a:ext>
            </a:extLst>
          </p:cNvPr>
          <p:cNvSpPr/>
          <p:nvPr/>
        </p:nvSpPr>
        <p:spPr>
          <a:xfrm>
            <a:off x="10078075" y="1267971"/>
            <a:ext cx="4208573" cy="4247184"/>
          </a:xfrm>
          <a:custGeom>
            <a:avLst/>
            <a:gdLst/>
            <a:ahLst/>
            <a:cxnLst/>
            <a:rect l="l" t="t" r="r" b="b"/>
            <a:pathLst>
              <a:path w="4208573" h="4247184">
                <a:moveTo>
                  <a:pt x="0" y="0"/>
                </a:moveTo>
                <a:lnTo>
                  <a:pt x="4208574" y="0"/>
                </a:lnTo>
                <a:lnTo>
                  <a:pt x="4208574" y="4247184"/>
                </a:lnTo>
                <a:lnTo>
                  <a:pt x="0" y="424718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TextBox 5">
            <a:extLst>
              <a:ext uri="{FF2B5EF4-FFF2-40B4-BE49-F238E27FC236}">
                <a16:creationId xmlns:a16="http://schemas.microsoft.com/office/drawing/2014/main" id="{274F23AA-D775-932F-C919-33E0F316E41A}"/>
              </a:ext>
            </a:extLst>
          </p:cNvPr>
          <p:cNvSpPr txBox="1"/>
          <p:nvPr/>
        </p:nvSpPr>
        <p:spPr>
          <a:xfrm>
            <a:off x="719592" y="641786"/>
            <a:ext cx="8092094" cy="116653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Map</a:t>
            </a:r>
          </a:p>
        </p:txBody>
      </p:sp>
      <p:sp>
        <p:nvSpPr>
          <p:cNvPr id="7" name="TextBox 6">
            <a:extLst>
              <a:ext uri="{FF2B5EF4-FFF2-40B4-BE49-F238E27FC236}">
                <a16:creationId xmlns:a16="http://schemas.microsoft.com/office/drawing/2014/main" id="{9E29B7D7-910D-49BD-3527-4746260DF0EB}"/>
              </a:ext>
            </a:extLst>
          </p:cNvPr>
          <p:cNvSpPr txBox="1"/>
          <p:nvPr/>
        </p:nvSpPr>
        <p:spPr>
          <a:xfrm>
            <a:off x="1147096" y="1761789"/>
            <a:ext cx="9364920" cy="1611403"/>
          </a:xfrm>
          <a:prstGeom prst="rect">
            <a:avLst/>
          </a:prstGeom>
        </p:spPr>
        <p:txBody>
          <a:bodyPr wrap="square"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Characteristics: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1) Key-value pairs</a:t>
            </a:r>
          </a:p>
          <a:p>
            <a:pPr marL="0" lvl="0" indent="0" algn="l">
              <a:lnSpc>
                <a:spcPct val="150000"/>
              </a:lnSpc>
              <a:spcBef>
                <a:spcPct val="0"/>
              </a:spcBef>
            </a:pPr>
            <a:r>
              <a:rPr lang="en-US" sz="2400" spc="119" dirty="0">
                <a:solidFill>
                  <a:srgbClr val="000000"/>
                </a:solidFill>
                <a:latin typeface="DM Sans"/>
                <a:ea typeface="DM Sans"/>
                <a:cs typeface="DM Sans"/>
                <a:sym typeface="DM Sans"/>
              </a:rPr>
              <a:t>2) Efficient Lookup</a:t>
            </a:r>
          </a:p>
        </p:txBody>
      </p:sp>
      <p:sp>
        <p:nvSpPr>
          <p:cNvPr id="4" name="TextBox 3">
            <a:extLst>
              <a:ext uri="{FF2B5EF4-FFF2-40B4-BE49-F238E27FC236}">
                <a16:creationId xmlns:a16="http://schemas.microsoft.com/office/drawing/2014/main" id="{39252233-30E0-6213-28A1-B63DDCB5F6FA}"/>
              </a:ext>
            </a:extLst>
          </p:cNvPr>
          <p:cNvSpPr txBox="1"/>
          <p:nvPr/>
        </p:nvSpPr>
        <p:spPr>
          <a:xfrm>
            <a:off x="1104115" y="3467100"/>
            <a:ext cx="7707571" cy="2165401"/>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Operations: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Insertion- O(1) for HashMap, O(</a:t>
            </a:r>
            <a:r>
              <a:rPr lang="en-US" sz="2400" u="none" spc="119" dirty="0" err="1">
                <a:solidFill>
                  <a:srgbClr val="000000"/>
                </a:solidFill>
                <a:latin typeface="DM Sans"/>
                <a:ea typeface="DM Sans"/>
                <a:cs typeface="DM Sans"/>
                <a:sym typeface="DM Sans"/>
              </a:rPr>
              <a:t>logn</a:t>
            </a:r>
            <a:r>
              <a:rPr lang="en-US" sz="2400" u="none" spc="119" dirty="0">
                <a:solidFill>
                  <a:srgbClr val="000000"/>
                </a:solidFill>
                <a:latin typeface="DM Sans"/>
                <a:ea typeface="DM Sans"/>
                <a:cs typeface="DM Sans"/>
                <a:sym typeface="DM Sans"/>
              </a:rPr>
              <a:t>) for </a:t>
            </a:r>
            <a:r>
              <a:rPr lang="en-US" sz="2400" u="none" spc="119" dirty="0" err="1">
                <a:solidFill>
                  <a:srgbClr val="000000"/>
                </a:solidFill>
                <a:latin typeface="DM Sans"/>
                <a:ea typeface="DM Sans"/>
                <a:cs typeface="DM Sans"/>
                <a:sym typeface="DM Sans"/>
              </a:rPr>
              <a:t>TreeMap</a:t>
            </a:r>
            <a:br>
              <a:rPr lang="en-US" sz="2400" u="none" spc="119" dirty="0">
                <a:solidFill>
                  <a:srgbClr val="000000"/>
                </a:solidFill>
                <a:latin typeface="DM Sans"/>
                <a:ea typeface="DM Sans"/>
                <a:cs typeface="DM Sans"/>
                <a:sym typeface="DM Sans"/>
              </a:rPr>
            </a:br>
            <a:r>
              <a:rPr lang="en-US" sz="2400" spc="119" dirty="0">
                <a:solidFill>
                  <a:srgbClr val="000000"/>
                </a:solidFill>
                <a:latin typeface="DM Sans"/>
                <a:ea typeface="DM Sans"/>
                <a:cs typeface="DM Sans"/>
                <a:sym typeface="DM Sans"/>
              </a:rPr>
              <a:t>Dele</a:t>
            </a:r>
            <a:r>
              <a:rPr lang="en-US" sz="2400" u="none" spc="119" dirty="0">
                <a:solidFill>
                  <a:srgbClr val="000000"/>
                </a:solidFill>
                <a:latin typeface="DM Sans"/>
                <a:ea typeface="DM Sans"/>
                <a:cs typeface="DM Sans"/>
                <a:sym typeface="DM Sans"/>
              </a:rPr>
              <a:t>tion- O(1) for HashMap, O(</a:t>
            </a:r>
            <a:r>
              <a:rPr lang="en-US" sz="2400" u="none" spc="119" dirty="0" err="1">
                <a:solidFill>
                  <a:srgbClr val="000000"/>
                </a:solidFill>
                <a:latin typeface="DM Sans"/>
                <a:ea typeface="DM Sans"/>
                <a:cs typeface="DM Sans"/>
                <a:sym typeface="DM Sans"/>
              </a:rPr>
              <a:t>logn</a:t>
            </a:r>
            <a:r>
              <a:rPr lang="en-US" sz="2400" u="none" spc="119" dirty="0">
                <a:solidFill>
                  <a:srgbClr val="000000"/>
                </a:solidFill>
                <a:latin typeface="DM Sans"/>
                <a:ea typeface="DM Sans"/>
                <a:cs typeface="DM Sans"/>
                <a:sym typeface="DM Sans"/>
              </a:rPr>
              <a:t>) for </a:t>
            </a:r>
            <a:r>
              <a:rPr lang="en-US" sz="2400" u="none" spc="119" dirty="0" err="1">
                <a:solidFill>
                  <a:srgbClr val="000000"/>
                </a:solidFill>
                <a:latin typeface="DM Sans"/>
                <a:ea typeface="DM Sans"/>
                <a:cs typeface="DM Sans"/>
                <a:sym typeface="DM Sans"/>
              </a:rPr>
              <a:t>TreeMap</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Lookup- O(1) for HashMap, O(</a:t>
            </a:r>
            <a:r>
              <a:rPr lang="en-US" sz="2400" u="none" spc="119" dirty="0" err="1">
                <a:solidFill>
                  <a:srgbClr val="000000"/>
                </a:solidFill>
                <a:latin typeface="DM Sans"/>
                <a:ea typeface="DM Sans"/>
                <a:cs typeface="DM Sans"/>
                <a:sym typeface="DM Sans"/>
              </a:rPr>
              <a:t>logn</a:t>
            </a:r>
            <a:r>
              <a:rPr lang="en-US" sz="2400" u="none" spc="119" dirty="0">
                <a:solidFill>
                  <a:srgbClr val="000000"/>
                </a:solidFill>
                <a:latin typeface="DM Sans"/>
                <a:ea typeface="DM Sans"/>
                <a:cs typeface="DM Sans"/>
                <a:sym typeface="DM Sans"/>
              </a:rPr>
              <a:t>) for </a:t>
            </a:r>
            <a:r>
              <a:rPr lang="en-US" sz="2400" u="none" spc="119" dirty="0" err="1">
                <a:solidFill>
                  <a:srgbClr val="000000"/>
                </a:solidFill>
                <a:latin typeface="DM Sans"/>
                <a:ea typeface="DM Sans"/>
                <a:cs typeface="DM Sans"/>
                <a:sym typeface="DM Sans"/>
              </a:rPr>
              <a:t>TreeMap</a:t>
            </a:r>
            <a:endParaRPr lang="en-US" sz="2400" u="none" spc="119" dirty="0">
              <a:solidFill>
                <a:srgbClr val="000000"/>
              </a:solidFill>
              <a:latin typeface="DM Sans"/>
              <a:ea typeface="DM Sans"/>
              <a:cs typeface="DM Sans"/>
              <a:sym typeface="DM Sans"/>
            </a:endParaRPr>
          </a:p>
        </p:txBody>
      </p:sp>
      <p:sp>
        <p:nvSpPr>
          <p:cNvPr id="6" name="TextBox 5">
            <a:extLst>
              <a:ext uri="{FF2B5EF4-FFF2-40B4-BE49-F238E27FC236}">
                <a16:creationId xmlns:a16="http://schemas.microsoft.com/office/drawing/2014/main" id="{093FC192-06FF-76AF-D17F-4DE54B7AF29D}"/>
              </a:ext>
            </a:extLst>
          </p:cNvPr>
          <p:cNvSpPr txBox="1"/>
          <p:nvPr/>
        </p:nvSpPr>
        <p:spPr>
          <a:xfrm>
            <a:off x="1104115" y="5710009"/>
            <a:ext cx="7707571" cy="1611403"/>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Applications: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Counting and Frequency Analysis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Request Headers</a:t>
            </a:r>
          </a:p>
        </p:txBody>
      </p:sp>
      <p:grpSp>
        <p:nvGrpSpPr>
          <p:cNvPr id="9" name="Group 8">
            <a:extLst>
              <a:ext uri="{FF2B5EF4-FFF2-40B4-BE49-F238E27FC236}">
                <a16:creationId xmlns:a16="http://schemas.microsoft.com/office/drawing/2014/main" id="{347C7E64-6860-27A3-A6F4-0F4E0E2A0FFE}"/>
              </a:ext>
            </a:extLst>
          </p:cNvPr>
          <p:cNvGrpSpPr/>
          <p:nvPr/>
        </p:nvGrpSpPr>
        <p:grpSpPr>
          <a:xfrm>
            <a:off x="12649200" y="8267700"/>
            <a:ext cx="5038072" cy="1538320"/>
            <a:chOff x="12804495" y="8322188"/>
            <a:chExt cx="5038072" cy="1538320"/>
          </a:xfrm>
        </p:grpSpPr>
        <p:grpSp>
          <p:nvGrpSpPr>
            <p:cNvPr id="10" name="Group 3">
              <a:extLst>
                <a:ext uri="{FF2B5EF4-FFF2-40B4-BE49-F238E27FC236}">
                  <a16:creationId xmlns:a16="http://schemas.microsoft.com/office/drawing/2014/main" id="{BB5C944A-AA44-1D87-DED7-11089C2271B2}"/>
                </a:ext>
              </a:extLst>
            </p:cNvPr>
            <p:cNvGrpSpPr/>
            <p:nvPr/>
          </p:nvGrpSpPr>
          <p:grpSpPr>
            <a:xfrm>
              <a:off x="12804496" y="8773680"/>
              <a:ext cx="5038071" cy="1086828"/>
              <a:chOff x="0" y="0"/>
              <a:chExt cx="1048738" cy="740906"/>
            </a:xfrm>
          </p:grpSpPr>
          <p:sp>
            <p:nvSpPr>
              <p:cNvPr id="36" name="Freeform 4">
                <a:extLst>
                  <a:ext uri="{FF2B5EF4-FFF2-40B4-BE49-F238E27FC236}">
                    <a16:creationId xmlns:a16="http://schemas.microsoft.com/office/drawing/2014/main" id="{D4FA4AF1-9600-D963-D0A5-DA758D5FAF98}"/>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37" name="TextBox 5">
                <a:extLst>
                  <a:ext uri="{FF2B5EF4-FFF2-40B4-BE49-F238E27FC236}">
                    <a16:creationId xmlns:a16="http://schemas.microsoft.com/office/drawing/2014/main" id="{219FA147-4DCA-394F-1860-C4105295E851}"/>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11" name="Group 15">
              <a:extLst>
                <a:ext uri="{FF2B5EF4-FFF2-40B4-BE49-F238E27FC236}">
                  <a16:creationId xmlns:a16="http://schemas.microsoft.com/office/drawing/2014/main" id="{B9BB7ED4-B9DC-F26B-D285-5EA0A5C39885}"/>
                </a:ext>
              </a:extLst>
            </p:cNvPr>
            <p:cNvGrpSpPr/>
            <p:nvPr/>
          </p:nvGrpSpPr>
          <p:grpSpPr>
            <a:xfrm>
              <a:off x="12804495" y="8322188"/>
              <a:ext cx="5038071" cy="617195"/>
              <a:chOff x="0" y="0"/>
              <a:chExt cx="1048738" cy="139206"/>
            </a:xfrm>
          </p:grpSpPr>
          <p:sp>
            <p:nvSpPr>
              <p:cNvPr id="34" name="Freeform 16">
                <a:extLst>
                  <a:ext uri="{FF2B5EF4-FFF2-40B4-BE49-F238E27FC236}">
                    <a16:creationId xmlns:a16="http://schemas.microsoft.com/office/drawing/2014/main" id="{FCC8A9BE-6863-9E60-B292-EC41DF9E8B10}"/>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35" name="TextBox 34">
                <a:extLst>
                  <a:ext uri="{FF2B5EF4-FFF2-40B4-BE49-F238E27FC236}">
                    <a16:creationId xmlns:a16="http://schemas.microsoft.com/office/drawing/2014/main" id="{CDFE42E4-9100-291C-8A21-77AD3390ED2A}"/>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32" name="TextBox 28">
              <a:extLst>
                <a:ext uri="{FF2B5EF4-FFF2-40B4-BE49-F238E27FC236}">
                  <a16:creationId xmlns:a16="http://schemas.microsoft.com/office/drawing/2014/main" id="{AFCEF1D8-28BC-31A0-8963-625507E8A314}"/>
                </a:ext>
              </a:extLst>
            </p:cNvPr>
            <p:cNvSpPr txBox="1"/>
            <p:nvPr/>
          </p:nvSpPr>
          <p:spPr>
            <a:xfrm>
              <a:off x="13121506" y="8502589"/>
              <a:ext cx="3739422" cy="320601"/>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Disadvantages</a:t>
              </a:r>
            </a:p>
          </p:txBody>
        </p:sp>
        <p:sp>
          <p:nvSpPr>
            <p:cNvPr id="33" name="TextBox 32">
              <a:extLst>
                <a:ext uri="{FF2B5EF4-FFF2-40B4-BE49-F238E27FC236}">
                  <a16:creationId xmlns:a16="http://schemas.microsoft.com/office/drawing/2014/main" id="{34929C4A-0706-AC36-159F-97A06ADD3CFC}"/>
                </a:ext>
              </a:extLst>
            </p:cNvPr>
            <p:cNvSpPr txBox="1"/>
            <p:nvPr/>
          </p:nvSpPr>
          <p:spPr>
            <a:xfrm>
              <a:off x="13106266" y="9162205"/>
              <a:ext cx="4137951" cy="581634"/>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Slower Than Arrays for Indexed Access</a:t>
              </a:r>
              <a:endParaRPr lang="en-US" sz="2400" u="none" spc="96" dirty="0">
                <a:solidFill>
                  <a:srgbClr val="000000"/>
                </a:solidFill>
                <a:latin typeface="DM Sans"/>
                <a:ea typeface="DM Sans"/>
                <a:cs typeface="DM Sans"/>
                <a:sym typeface="DM Sans"/>
              </a:endParaRPr>
            </a:p>
          </p:txBody>
        </p:sp>
      </p:grpSp>
      <p:grpSp>
        <p:nvGrpSpPr>
          <p:cNvPr id="38" name="Group 37">
            <a:extLst>
              <a:ext uri="{FF2B5EF4-FFF2-40B4-BE49-F238E27FC236}">
                <a16:creationId xmlns:a16="http://schemas.microsoft.com/office/drawing/2014/main" id="{7F5C4CBB-8B13-02A1-BFBE-6F0E23E1F6A1}"/>
              </a:ext>
            </a:extLst>
          </p:cNvPr>
          <p:cNvGrpSpPr/>
          <p:nvPr/>
        </p:nvGrpSpPr>
        <p:grpSpPr>
          <a:xfrm>
            <a:off x="12649200" y="6362700"/>
            <a:ext cx="5038072" cy="1538320"/>
            <a:chOff x="12804495" y="8322188"/>
            <a:chExt cx="5038072" cy="1538320"/>
          </a:xfrm>
        </p:grpSpPr>
        <p:grpSp>
          <p:nvGrpSpPr>
            <p:cNvPr id="39" name="Group 3">
              <a:extLst>
                <a:ext uri="{FF2B5EF4-FFF2-40B4-BE49-F238E27FC236}">
                  <a16:creationId xmlns:a16="http://schemas.microsoft.com/office/drawing/2014/main" id="{5806B42B-098D-F51C-E8D2-E5A55E055D71}"/>
                </a:ext>
              </a:extLst>
            </p:cNvPr>
            <p:cNvGrpSpPr/>
            <p:nvPr/>
          </p:nvGrpSpPr>
          <p:grpSpPr>
            <a:xfrm>
              <a:off x="12804496" y="8773680"/>
              <a:ext cx="5038071" cy="1086828"/>
              <a:chOff x="0" y="0"/>
              <a:chExt cx="1048738" cy="740906"/>
            </a:xfrm>
          </p:grpSpPr>
          <p:sp>
            <p:nvSpPr>
              <p:cNvPr id="45" name="Freeform 4">
                <a:extLst>
                  <a:ext uri="{FF2B5EF4-FFF2-40B4-BE49-F238E27FC236}">
                    <a16:creationId xmlns:a16="http://schemas.microsoft.com/office/drawing/2014/main" id="{EE7B131E-919F-045F-DC89-62D1E7956EDC}"/>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46" name="TextBox 5">
                <a:extLst>
                  <a:ext uri="{FF2B5EF4-FFF2-40B4-BE49-F238E27FC236}">
                    <a16:creationId xmlns:a16="http://schemas.microsoft.com/office/drawing/2014/main" id="{1B8E831A-0C1C-2836-EE2F-5AA5222C1392}"/>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40" name="Group 15">
              <a:extLst>
                <a:ext uri="{FF2B5EF4-FFF2-40B4-BE49-F238E27FC236}">
                  <a16:creationId xmlns:a16="http://schemas.microsoft.com/office/drawing/2014/main" id="{FA821515-B693-523C-9603-D3964D21C870}"/>
                </a:ext>
              </a:extLst>
            </p:cNvPr>
            <p:cNvGrpSpPr/>
            <p:nvPr/>
          </p:nvGrpSpPr>
          <p:grpSpPr>
            <a:xfrm>
              <a:off x="12804495" y="8322188"/>
              <a:ext cx="5038071" cy="617195"/>
              <a:chOff x="0" y="0"/>
              <a:chExt cx="1048738" cy="139206"/>
            </a:xfrm>
          </p:grpSpPr>
          <p:sp>
            <p:nvSpPr>
              <p:cNvPr id="43" name="Freeform 16">
                <a:extLst>
                  <a:ext uri="{FF2B5EF4-FFF2-40B4-BE49-F238E27FC236}">
                    <a16:creationId xmlns:a16="http://schemas.microsoft.com/office/drawing/2014/main" id="{B8083284-C361-EE0B-FD71-63669D2909B6}"/>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44" name="TextBox 43">
                <a:extLst>
                  <a:ext uri="{FF2B5EF4-FFF2-40B4-BE49-F238E27FC236}">
                    <a16:creationId xmlns:a16="http://schemas.microsoft.com/office/drawing/2014/main" id="{98203BEA-8EC2-932A-B624-D06C34350255}"/>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41" name="TextBox 28">
              <a:extLst>
                <a:ext uri="{FF2B5EF4-FFF2-40B4-BE49-F238E27FC236}">
                  <a16:creationId xmlns:a16="http://schemas.microsoft.com/office/drawing/2014/main" id="{E2539186-B336-0D88-AE97-C47ACF038CB1}"/>
                </a:ext>
              </a:extLst>
            </p:cNvPr>
            <p:cNvSpPr txBox="1"/>
            <p:nvPr/>
          </p:nvSpPr>
          <p:spPr>
            <a:xfrm>
              <a:off x="13121506" y="8502589"/>
              <a:ext cx="3739422" cy="320601"/>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Advantages</a:t>
              </a:r>
            </a:p>
          </p:txBody>
        </p:sp>
        <p:sp>
          <p:nvSpPr>
            <p:cNvPr id="42" name="TextBox 32">
              <a:extLst>
                <a:ext uri="{FF2B5EF4-FFF2-40B4-BE49-F238E27FC236}">
                  <a16:creationId xmlns:a16="http://schemas.microsoft.com/office/drawing/2014/main" id="{524D58D2-0F78-3B08-DBEF-CEF40436ED76}"/>
                </a:ext>
              </a:extLst>
            </p:cNvPr>
            <p:cNvSpPr txBox="1"/>
            <p:nvPr/>
          </p:nvSpPr>
          <p:spPr>
            <a:xfrm>
              <a:off x="13106267" y="9308685"/>
              <a:ext cx="4137951" cy="299506"/>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Fast Data Retrieval</a:t>
              </a:r>
            </a:p>
          </p:txBody>
        </p:sp>
      </p:grpSp>
      <p:sp>
        <p:nvSpPr>
          <p:cNvPr id="48" name="TextBox 47">
            <a:extLst>
              <a:ext uri="{FF2B5EF4-FFF2-40B4-BE49-F238E27FC236}">
                <a16:creationId xmlns:a16="http://schemas.microsoft.com/office/drawing/2014/main" id="{8BE575E3-8AD3-FF3F-65BA-E88433E7AA6B}"/>
              </a:ext>
            </a:extLst>
          </p:cNvPr>
          <p:cNvSpPr txBox="1"/>
          <p:nvPr/>
        </p:nvSpPr>
        <p:spPr>
          <a:xfrm>
            <a:off x="1150027" y="7429500"/>
            <a:ext cx="7707571" cy="2165401"/>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Types: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HashMap</a:t>
            </a:r>
            <a:br>
              <a:rPr lang="en-US" sz="2400" u="none" spc="119" dirty="0">
                <a:solidFill>
                  <a:srgbClr val="000000"/>
                </a:solidFill>
                <a:latin typeface="DM Sans"/>
                <a:ea typeface="DM Sans"/>
                <a:cs typeface="DM Sans"/>
                <a:sym typeface="DM Sans"/>
              </a:rPr>
            </a:br>
            <a:r>
              <a:rPr lang="en-US" sz="2400" u="none" spc="119" dirty="0" err="1">
                <a:solidFill>
                  <a:srgbClr val="000000"/>
                </a:solidFill>
                <a:latin typeface="DM Sans"/>
                <a:ea typeface="DM Sans"/>
                <a:cs typeface="DM Sans"/>
                <a:sym typeface="DM Sans"/>
              </a:rPr>
              <a:t>TreeMap</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Linked HashMap</a:t>
            </a:r>
          </a:p>
        </p:txBody>
      </p:sp>
      <p:pic>
        <p:nvPicPr>
          <p:cNvPr id="9218" name="Picture 2" descr="Java HashMap vs Hashtable | Know the differences | Edureka">
            <a:extLst>
              <a:ext uri="{FF2B5EF4-FFF2-40B4-BE49-F238E27FC236}">
                <a16:creationId xmlns:a16="http://schemas.microsoft.com/office/drawing/2014/main" id="{D6E02269-F044-1099-96F8-28A22639E1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29147" y="2040574"/>
            <a:ext cx="5910433" cy="3900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647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84CAF-11D3-F7CC-365B-A92C5971C3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6F1E4B-5F02-C4DA-0B2C-7E55F54CFC0A}"/>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3" name="Freeform 3">
            <a:extLst>
              <a:ext uri="{FF2B5EF4-FFF2-40B4-BE49-F238E27FC236}">
                <a16:creationId xmlns:a16="http://schemas.microsoft.com/office/drawing/2014/main" id="{D71BD5D9-938F-AF15-D008-C7BC4BF944A4}"/>
              </a:ext>
            </a:extLst>
          </p:cNvPr>
          <p:cNvSpPr/>
          <p:nvPr/>
        </p:nvSpPr>
        <p:spPr>
          <a:xfrm rot="18378280">
            <a:off x="-1264892" y="2408121"/>
            <a:ext cx="7567145" cy="2582288"/>
          </a:xfrm>
          <a:custGeom>
            <a:avLst/>
            <a:gdLst/>
            <a:ahLst/>
            <a:cxnLst/>
            <a:rect l="l" t="t" r="r" b="b"/>
            <a:pathLst>
              <a:path w="7567145" h="2582288">
                <a:moveTo>
                  <a:pt x="0" y="0"/>
                </a:moveTo>
                <a:lnTo>
                  <a:pt x="7567144" y="0"/>
                </a:lnTo>
                <a:lnTo>
                  <a:pt x="7567144" y="2582288"/>
                </a:lnTo>
                <a:lnTo>
                  <a:pt x="0" y="258228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7" name="TextBox 5">
            <a:extLst>
              <a:ext uri="{FF2B5EF4-FFF2-40B4-BE49-F238E27FC236}">
                <a16:creationId xmlns:a16="http://schemas.microsoft.com/office/drawing/2014/main" id="{2E44F88B-B21E-6994-4EC0-AE99D947EA79}"/>
              </a:ext>
            </a:extLst>
          </p:cNvPr>
          <p:cNvSpPr txBox="1"/>
          <p:nvPr/>
        </p:nvSpPr>
        <p:spPr>
          <a:xfrm>
            <a:off x="7315200" y="501572"/>
            <a:ext cx="8092094" cy="116653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Heap</a:t>
            </a:r>
          </a:p>
        </p:txBody>
      </p:sp>
      <p:sp>
        <p:nvSpPr>
          <p:cNvPr id="8" name="TextBox 7">
            <a:extLst>
              <a:ext uri="{FF2B5EF4-FFF2-40B4-BE49-F238E27FC236}">
                <a16:creationId xmlns:a16="http://schemas.microsoft.com/office/drawing/2014/main" id="{CF84012D-BB7C-27EE-58A8-5578161AF68A}"/>
              </a:ext>
            </a:extLst>
          </p:cNvPr>
          <p:cNvSpPr txBox="1"/>
          <p:nvPr/>
        </p:nvSpPr>
        <p:spPr>
          <a:xfrm>
            <a:off x="7836883" y="1638300"/>
            <a:ext cx="9765317" cy="4381392"/>
          </a:xfrm>
          <a:prstGeom prst="rect">
            <a:avLst/>
          </a:prstGeom>
        </p:spPr>
        <p:txBody>
          <a:bodyPr wrap="square"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Characteristics: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1) </a:t>
            </a:r>
            <a:r>
              <a:rPr lang="en-US" sz="2400" b="1" u="none" spc="119" dirty="0">
                <a:solidFill>
                  <a:srgbClr val="000000"/>
                </a:solidFill>
                <a:latin typeface="DM Sans"/>
                <a:ea typeface="DM Sans"/>
                <a:cs typeface="DM Sans"/>
                <a:sym typeface="DM Sans"/>
              </a:rPr>
              <a:t>Shape Property:</a:t>
            </a:r>
            <a:r>
              <a:rPr lang="en-US" sz="2400" u="none" spc="119" dirty="0">
                <a:solidFill>
                  <a:srgbClr val="000000"/>
                </a:solidFill>
                <a:latin typeface="DM Sans"/>
                <a:ea typeface="DM Sans"/>
                <a:cs typeface="DM Sans"/>
                <a:sym typeface="DM Sans"/>
              </a:rPr>
              <a:t> Heaps are complete binary trees, meaning all levels are fully filled except possibly the last level, which is filled from left to right.</a:t>
            </a:r>
          </a:p>
          <a:p>
            <a:pPr marL="0" lvl="0" indent="0" algn="l">
              <a:lnSpc>
                <a:spcPct val="150000"/>
              </a:lnSpc>
              <a:spcBef>
                <a:spcPct val="0"/>
              </a:spcBef>
            </a:pPr>
            <a:r>
              <a:rPr lang="en-US" sz="2400" spc="119" dirty="0">
                <a:solidFill>
                  <a:srgbClr val="000000"/>
                </a:solidFill>
                <a:latin typeface="DM Sans"/>
                <a:ea typeface="DM Sans"/>
                <a:cs typeface="DM Sans"/>
                <a:sym typeface="DM Sans"/>
              </a:rPr>
              <a:t>2) </a:t>
            </a:r>
            <a:r>
              <a:rPr lang="en-US" sz="2400" b="1" spc="119" dirty="0">
                <a:solidFill>
                  <a:srgbClr val="000000"/>
                </a:solidFill>
                <a:latin typeface="DM Sans"/>
                <a:ea typeface="DM Sans"/>
                <a:cs typeface="DM Sans"/>
                <a:sym typeface="DM Sans"/>
              </a:rPr>
              <a:t>Heap Property: </a:t>
            </a:r>
            <a:r>
              <a:rPr lang="en-US" sz="2400" spc="119" dirty="0">
                <a:solidFill>
                  <a:srgbClr val="000000"/>
                </a:solidFill>
                <a:latin typeface="DM Sans"/>
                <a:ea typeface="DM Sans"/>
                <a:cs typeface="DM Sans"/>
                <a:sym typeface="DM Sans"/>
              </a:rPr>
              <a:t>Every parent node in a max-heap is greater than or equal to its children, while in a min-heap, every parent node is smaller than or equal to its children.</a:t>
            </a:r>
            <a:br>
              <a:rPr lang="en-US" sz="2400" spc="119" dirty="0">
                <a:solidFill>
                  <a:srgbClr val="000000"/>
                </a:solidFill>
                <a:latin typeface="DM Sans"/>
                <a:ea typeface="DM Sans"/>
                <a:cs typeface="DM Sans"/>
                <a:sym typeface="DM Sans"/>
              </a:rPr>
            </a:br>
            <a:endParaRPr lang="en-US" sz="2400" u="none" spc="119" dirty="0">
              <a:solidFill>
                <a:srgbClr val="000000"/>
              </a:solidFill>
              <a:latin typeface="DM Sans"/>
              <a:ea typeface="DM Sans"/>
              <a:cs typeface="DM Sans"/>
              <a:sym typeface="DM Sans"/>
            </a:endParaRPr>
          </a:p>
        </p:txBody>
      </p:sp>
      <p:sp>
        <p:nvSpPr>
          <p:cNvPr id="9" name="TextBox 8">
            <a:extLst>
              <a:ext uri="{FF2B5EF4-FFF2-40B4-BE49-F238E27FC236}">
                <a16:creationId xmlns:a16="http://schemas.microsoft.com/office/drawing/2014/main" id="{EBECB234-3D25-84D3-AA7C-A9152AA92127}"/>
              </a:ext>
            </a:extLst>
          </p:cNvPr>
          <p:cNvSpPr txBox="1"/>
          <p:nvPr/>
        </p:nvSpPr>
        <p:spPr>
          <a:xfrm>
            <a:off x="7836883" y="5608547"/>
            <a:ext cx="7707571" cy="1611403"/>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Operations: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Insertion and Deletion – O(</a:t>
            </a:r>
            <a:r>
              <a:rPr lang="en-US" sz="2400" u="none" spc="119" dirty="0" err="1">
                <a:solidFill>
                  <a:srgbClr val="000000"/>
                </a:solidFill>
                <a:latin typeface="DM Sans"/>
                <a:ea typeface="DM Sans"/>
                <a:cs typeface="DM Sans"/>
                <a:sym typeface="DM Sans"/>
              </a:rPr>
              <a:t>logn</a:t>
            </a:r>
            <a:r>
              <a:rPr lang="en-US" sz="2400" u="none" spc="119" dirty="0">
                <a:solidFill>
                  <a:srgbClr val="000000"/>
                </a:solidFill>
                <a:latin typeface="DM Sans"/>
                <a:ea typeface="DM Sans"/>
                <a:cs typeface="DM Sans"/>
                <a:sym typeface="DM Sans"/>
              </a:rPr>
              <a:t>)</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Peek – O(1)</a:t>
            </a:r>
          </a:p>
        </p:txBody>
      </p:sp>
      <p:sp>
        <p:nvSpPr>
          <p:cNvPr id="29" name="TextBox 32">
            <a:extLst>
              <a:ext uri="{FF2B5EF4-FFF2-40B4-BE49-F238E27FC236}">
                <a16:creationId xmlns:a16="http://schemas.microsoft.com/office/drawing/2014/main" id="{3434FA8C-DE57-A8C0-6DA8-692B67BF87DE}"/>
              </a:ext>
            </a:extLst>
          </p:cNvPr>
          <p:cNvSpPr txBox="1"/>
          <p:nvPr/>
        </p:nvSpPr>
        <p:spPr>
          <a:xfrm>
            <a:off x="13121507" y="8359874"/>
            <a:ext cx="4137951" cy="299506"/>
          </a:xfrm>
          <a:prstGeom prst="rect">
            <a:avLst/>
          </a:prstGeom>
        </p:spPr>
        <p:txBody>
          <a:bodyPr lIns="0" tIns="0" rIns="0" bIns="0" rtlCol="0" anchor="t">
            <a:spAutoFit/>
          </a:bodyPr>
          <a:lstStyle/>
          <a:p>
            <a:pPr marL="0" lvl="0" indent="0" algn="l">
              <a:lnSpc>
                <a:spcPts val="2160"/>
              </a:lnSpc>
              <a:spcBef>
                <a:spcPct val="0"/>
              </a:spcBef>
            </a:pPr>
            <a:endParaRPr lang="en-US" sz="2400" u="none" spc="96" dirty="0">
              <a:solidFill>
                <a:srgbClr val="000000"/>
              </a:solidFill>
              <a:latin typeface="DM Sans"/>
              <a:ea typeface="DM Sans"/>
              <a:cs typeface="DM Sans"/>
              <a:sym typeface="DM Sans"/>
            </a:endParaRPr>
          </a:p>
        </p:txBody>
      </p:sp>
      <p:sp>
        <p:nvSpPr>
          <p:cNvPr id="41" name="TextBox 40">
            <a:extLst>
              <a:ext uri="{FF2B5EF4-FFF2-40B4-BE49-F238E27FC236}">
                <a16:creationId xmlns:a16="http://schemas.microsoft.com/office/drawing/2014/main" id="{3A7FE298-7687-AAC5-798D-B22F9091A7D0}"/>
              </a:ext>
            </a:extLst>
          </p:cNvPr>
          <p:cNvSpPr txBox="1"/>
          <p:nvPr/>
        </p:nvSpPr>
        <p:spPr>
          <a:xfrm>
            <a:off x="7840404" y="7277100"/>
            <a:ext cx="7707571" cy="1611403"/>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Applications: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Priority Queue</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Job Scheduling</a:t>
            </a:r>
          </a:p>
        </p:txBody>
      </p:sp>
      <p:grpSp>
        <p:nvGrpSpPr>
          <p:cNvPr id="49" name="Group 48">
            <a:extLst>
              <a:ext uri="{FF2B5EF4-FFF2-40B4-BE49-F238E27FC236}">
                <a16:creationId xmlns:a16="http://schemas.microsoft.com/office/drawing/2014/main" id="{CB573861-3F23-B6F8-6ED3-F59ADBDE4294}"/>
              </a:ext>
            </a:extLst>
          </p:cNvPr>
          <p:cNvGrpSpPr/>
          <p:nvPr/>
        </p:nvGrpSpPr>
        <p:grpSpPr>
          <a:xfrm>
            <a:off x="1492809" y="5738212"/>
            <a:ext cx="5038071" cy="2892263"/>
            <a:chOff x="1504154" y="4469650"/>
            <a:chExt cx="5038071" cy="2892263"/>
          </a:xfrm>
        </p:grpSpPr>
        <p:grpSp>
          <p:nvGrpSpPr>
            <p:cNvPr id="5" name="Group 4">
              <a:extLst>
                <a:ext uri="{FF2B5EF4-FFF2-40B4-BE49-F238E27FC236}">
                  <a16:creationId xmlns:a16="http://schemas.microsoft.com/office/drawing/2014/main" id="{947CBC4D-8D52-5CC8-4145-D2C99D5BE19F}"/>
                </a:ext>
              </a:extLst>
            </p:cNvPr>
            <p:cNvGrpSpPr/>
            <p:nvPr/>
          </p:nvGrpSpPr>
          <p:grpSpPr>
            <a:xfrm>
              <a:off x="1504154" y="4469650"/>
              <a:ext cx="5038071" cy="2892263"/>
              <a:chOff x="1028700" y="1078797"/>
              <a:chExt cx="5038071" cy="3742296"/>
            </a:xfrm>
          </p:grpSpPr>
          <p:grpSp>
            <p:nvGrpSpPr>
              <p:cNvPr id="6" name="Group 3">
                <a:extLst>
                  <a:ext uri="{FF2B5EF4-FFF2-40B4-BE49-F238E27FC236}">
                    <a16:creationId xmlns:a16="http://schemas.microsoft.com/office/drawing/2014/main" id="{D74410A7-5252-7195-ADE3-F80482C22761}"/>
                  </a:ext>
                </a:extLst>
              </p:cNvPr>
              <p:cNvGrpSpPr/>
              <p:nvPr/>
            </p:nvGrpSpPr>
            <p:grpSpPr>
              <a:xfrm>
                <a:off x="1028700" y="1078797"/>
                <a:ext cx="5038071" cy="3742296"/>
                <a:chOff x="0" y="-38100"/>
                <a:chExt cx="1048738" cy="779006"/>
              </a:xfrm>
            </p:grpSpPr>
            <p:sp>
              <p:nvSpPr>
                <p:cNvPr id="15" name="Freeform 4">
                  <a:extLst>
                    <a:ext uri="{FF2B5EF4-FFF2-40B4-BE49-F238E27FC236}">
                      <a16:creationId xmlns:a16="http://schemas.microsoft.com/office/drawing/2014/main" id="{F137A94E-0E63-8E1F-E34C-72E8ADFE1F01}"/>
                    </a:ext>
                  </a:extLst>
                </p:cNvPr>
                <p:cNvSpPr/>
                <p:nvPr/>
              </p:nvSpPr>
              <p:spPr>
                <a:xfrm>
                  <a:off x="0" y="0"/>
                  <a:ext cx="1048738" cy="518691"/>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16" name="TextBox 5">
                  <a:extLst>
                    <a:ext uri="{FF2B5EF4-FFF2-40B4-BE49-F238E27FC236}">
                      <a16:creationId xmlns:a16="http://schemas.microsoft.com/office/drawing/2014/main" id="{0A38DE26-6264-820B-573E-65DCA904189B}"/>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10" name="Group 15">
                <a:extLst>
                  <a:ext uri="{FF2B5EF4-FFF2-40B4-BE49-F238E27FC236}">
                    <a16:creationId xmlns:a16="http://schemas.microsoft.com/office/drawing/2014/main" id="{3088FE58-8DF5-04C8-EBE8-917A50213FF8}"/>
                  </a:ext>
                </a:extLst>
              </p:cNvPr>
              <p:cNvGrpSpPr/>
              <p:nvPr/>
            </p:nvGrpSpPr>
            <p:grpSpPr>
              <a:xfrm>
                <a:off x="1028700" y="1261827"/>
                <a:ext cx="5038071" cy="668736"/>
                <a:chOff x="0" y="0"/>
                <a:chExt cx="1048738" cy="139206"/>
              </a:xfrm>
            </p:grpSpPr>
            <p:sp>
              <p:nvSpPr>
                <p:cNvPr id="13" name="Freeform 16">
                  <a:extLst>
                    <a:ext uri="{FF2B5EF4-FFF2-40B4-BE49-F238E27FC236}">
                      <a16:creationId xmlns:a16="http://schemas.microsoft.com/office/drawing/2014/main" id="{73853CF4-1448-2982-D007-FA6C9E32B2DA}"/>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14" name="TextBox 13">
                  <a:extLst>
                    <a:ext uri="{FF2B5EF4-FFF2-40B4-BE49-F238E27FC236}">
                      <a16:creationId xmlns:a16="http://schemas.microsoft.com/office/drawing/2014/main" id="{B5B56D3A-5C83-38BE-38EC-03140FED0ED1}"/>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11" name="TextBox 28">
                <a:extLst>
                  <a:ext uri="{FF2B5EF4-FFF2-40B4-BE49-F238E27FC236}">
                    <a16:creationId xmlns:a16="http://schemas.microsoft.com/office/drawing/2014/main" id="{38D06BEA-078B-8F23-D886-32A171D98DAD}"/>
                  </a:ext>
                </a:extLst>
              </p:cNvPr>
              <p:cNvSpPr txBox="1"/>
              <p:nvPr/>
            </p:nvSpPr>
            <p:spPr>
              <a:xfrm>
                <a:off x="1345712" y="1452532"/>
                <a:ext cx="3739422" cy="347374"/>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Advantages</a:t>
                </a:r>
              </a:p>
            </p:txBody>
          </p:sp>
          <p:sp>
            <p:nvSpPr>
              <p:cNvPr id="12" name="TextBox 32">
                <a:extLst>
                  <a:ext uri="{FF2B5EF4-FFF2-40B4-BE49-F238E27FC236}">
                    <a16:creationId xmlns:a16="http://schemas.microsoft.com/office/drawing/2014/main" id="{AF205AC8-393C-ACB6-21A1-423936FCCDF0}"/>
                  </a:ext>
                </a:extLst>
              </p:cNvPr>
              <p:cNvSpPr txBox="1"/>
              <p:nvPr/>
            </p:nvSpPr>
            <p:spPr>
              <a:xfrm>
                <a:off x="1345712" y="2381811"/>
                <a:ext cx="4137951" cy="387530"/>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Good for dynamic data</a:t>
                </a:r>
              </a:p>
            </p:txBody>
          </p:sp>
        </p:grpSp>
        <p:sp>
          <p:nvSpPr>
            <p:cNvPr id="17" name="TextBox 32">
              <a:extLst>
                <a:ext uri="{FF2B5EF4-FFF2-40B4-BE49-F238E27FC236}">
                  <a16:creationId xmlns:a16="http://schemas.microsoft.com/office/drawing/2014/main" id="{BC7CA8E5-D824-CD98-ABD3-85EF2301684F}"/>
                </a:ext>
              </a:extLst>
            </p:cNvPr>
            <p:cNvSpPr txBox="1"/>
            <p:nvPr/>
          </p:nvSpPr>
          <p:spPr>
            <a:xfrm>
              <a:off x="1821166" y="5964791"/>
              <a:ext cx="4137951" cy="299506"/>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Efficient priority access</a:t>
              </a:r>
              <a:endParaRPr lang="en-US" sz="2400" u="none" spc="96" dirty="0">
                <a:solidFill>
                  <a:srgbClr val="000000"/>
                </a:solidFill>
                <a:latin typeface="DM Sans"/>
                <a:ea typeface="DM Sans"/>
                <a:cs typeface="DM Sans"/>
                <a:sym typeface="DM Sans"/>
              </a:endParaRPr>
            </a:p>
          </p:txBody>
        </p:sp>
      </p:grpSp>
      <p:grpSp>
        <p:nvGrpSpPr>
          <p:cNvPr id="19" name="Group 18">
            <a:extLst>
              <a:ext uri="{FF2B5EF4-FFF2-40B4-BE49-F238E27FC236}">
                <a16:creationId xmlns:a16="http://schemas.microsoft.com/office/drawing/2014/main" id="{2507AC06-EEB6-7EE4-B8DC-734ED5FE313F}"/>
              </a:ext>
            </a:extLst>
          </p:cNvPr>
          <p:cNvGrpSpPr/>
          <p:nvPr/>
        </p:nvGrpSpPr>
        <p:grpSpPr>
          <a:xfrm>
            <a:off x="1492809" y="7861581"/>
            <a:ext cx="5038071" cy="2892263"/>
            <a:chOff x="1028700" y="1078797"/>
            <a:chExt cx="5038071" cy="3742296"/>
          </a:xfrm>
        </p:grpSpPr>
        <p:grpSp>
          <p:nvGrpSpPr>
            <p:cNvPr id="20" name="Group 3">
              <a:extLst>
                <a:ext uri="{FF2B5EF4-FFF2-40B4-BE49-F238E27FC236}">
                  <a16:creationId xmlns:a16="http://schemas.microsoft.com/office/drawing/2014/main" id="{9AA485F1-C3B4-1451-73C3-155DD2796BE6}"/>
                </a:ext>
              </a:extLst>
            </p:cNvPr>
            <p:cNvGrpSpPr/>
            <p:nvPr/>
          </p:nvGrpSpPr>
          <p:grpSpPr>
            <a:xfrm>
              <a:off x="1028700" y="1078797"/>
              <a:ext cx="5038071" cy="3742296"/>
              <a:chOff x="0" y="-38100"/>
              <a:chExt cx="1048738" cy="779006"/>
            </a:xfrm>
          </p:grpSpPr>
          <p:sp>
            <p:nvSpPr>
              <p:cNvPr id="47" name="Freeform 4">
                <a:extLst>
                  <a:ext uri="{FF2B5EF4-FFF2-40B4-BE49-F238E27FC236}">
                    <a16:creationId xmlns:a16="http://schemas.microsoft.com/office/drawing/2014/main" id="{76DE28A3-F565-27FD-2BD6-E7AFAAD07E65}"/>
                  </a:ext>
                </a:extLst>
              </p:cNvPr>
              <p:cNvSpPr/>
              <p:nvPr/>
            </p:nvSpPr>
            <p:spPr>
              <a:xfrm>
                <a:off x="0" y="0"/>
                <a:ext cx="1048738" cy="506813"/>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48" name="TextBox 5">
                <a:extLst>
                  <a:ext uri="{FF2B5EF4-FFF2-40B4-BE49-F238E27FC236}">
                    <a16:creationId xmlns:a16="http://schemas.microsoft.com/office/drawing/2014/main" id="{A4BC8695-9BF7-F5F4-1305-9E82F82BFF6F}"/>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42" name="Group 15">
              <a:extLst>
                <a:ext uri="{FF2B5EF4-FFF2-40B4-BE49-F238E27FC236}">
                  <a16:creationId xmlns:a16="http://schemas.microsoft.com/office/drawing/2014/main" id="{DE99926A-A3D6-1647-0F2E-7F417D4E16FD}"/>
                </a:ext>
              </a:extLst>
            </p:cNvPr>
            <p:cNvGrpSpPr/>
            <p:nvPr/>
          </p:nvGrpSpPr>
          <p:grpSpPr>
            <a:xfrm>
              <a:off x="1028700" y="1261827"/>
              <a:ext cx="5038071" cy="668736"/>
              <a:chOff x="0" y="0"/>
              <a:chExt cx="1048738" cy="139206"/>
            </a:xfrm>
          </p:grpSpPr>
          <p:sp>
            <p:nvSpPr>
              <p:cNvPr id="45" name="Freeform 16">
                <a:extLst>
                  <a:ext uri="{FF2B5EF4-FFF2-40B4-BE49-F238E27FC236}">
                    <a16:creationId xmlns:a16="http://schemas.microsoft.com/office/drawing/2014/main" id="{0A22FBB9-5243-FA45-2C7F-10CFC19732AB}"/>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46" name="TextBox 45">
                <a:extLst>
                  <a:ext uri="{FF2B5EF4-FFF2-40B4-BE49-F238E27FC236}">
                    <a16:creationId xmlns:a16="http://schemas.microsoft.com/office/drawing/2014/main" id="{92656FFB-D4AE-4061-68EE-1645633C1CB6}"/>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43" name="TextBox 28">
              <a:extLst>
                <a:ext uri="{FF2B5EF4-FFF2-40B4-BE49-F238E27FC236}">
                  <a16:creationId xmlns:a16="http://schemas.microsoft.com/office/drawing/2014/main" id="{AE21A78D-4E7D-BA1F-C118-CEBD44F42D30}"/>
                </a:ext>
              </a:extLst>
            </p:cNvPr>
            <p:cNvSpPr txBox="1"/>
            <p:nvPr/>
          </p:nvSpPr>
          <p:spPr>
            <a:xfrm>
              <a:off x="1345712" y="1452532"/>
              <a:ext cx="3739422" cy="414825"/>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Disadvantages</a:t>
              </a:r>
            </a:p>
          </p:txBody>
        </p:sp>
        <p:sp>
          <p:nvSpPr>
            <p:cNvPr id="44" name="TextBox 32">
              <a:extLst>
                <a:ext uri="{FF2B5EF4-FFF2-40B4-BE49-F238E27FC236}">
                  <a16:creationId xmlns:a16="http://schemas.microsoft.com/office/drawing/2014/main" id="{99C70A02-96FC-E321-D7AB-D0CA93E3D70E}"/>
                </a:ext>
              </a:extLst>
            </p:cNvPr>
            <p:cNvSpPr txBox="1"/>
            <p:nvPr/>
          </p:nvSpPr>
          <p:spPr>
            <a:xfrm>
              <a:off x="1345712" y="2381811"/>
              <a:ext cx="4137951" cy="387530"/>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Lack of random access</a:t>
              </a:r>
            </a:p>
          </p:txBody>
        </p:sp>
      </p:grpSp>
      <p:pic>
        <p:nvPicPr>
          <p:cNvPr id="8194" name="Picture 2" descr="Heap Data Structure - GeeksforGeeks">
            <a:extLst>
              <a:ext uri="{FF2B5EF4-FFF2-40B4-BE49-F238E27FC236}">
                <a16:creationId xmlns:a16="http://schemas.microsoft.com/office/drawing/2014/main" id="{5E7C7315-9C2C-0B82-AF51-08749A46CF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022" y="1540847"/>
            <a:ext cx="6827310" cy="4096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871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7AB15-1ED1-8654-2903-AAA597BF35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723FF72-25A9-8DAA-8F7A-F74C2FC3E730}"/>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IN" dirty="0"/>
          </a:p>
        </p:txBody>
      </p:sp>
      <p:sp>
        <p:nvSpPr>
          <p:cNvPr id="3" name="Freeform 3">
            <a:extLst>
              <a:ext uri="{FF2B5EF4-FFF2-40B4-BE49-F238E27FC236}">
                <a16:creationId xmlns:a16="http://schemas.microsoft.com/office/drawing/2014/main" id="{4E409C9C-2ED5-E2DE-52C2-FA2F3386C4E7}"/>
              </a:ext>
            </a:extLst>
          </p:cNvPr>
          <p:cNvSpPr/>
          <p:nvPr/>
        </p:nvSpPr>
        <p:spPr>
          <a:xfrm>
            <a:off x="10078075" y="1267971"/>
            <a:ext cx="4208573" cy="4247184"/>
          </a:xfrm>
          <a:custGeom>
            <a:avLst/>
            <a:gdLst/>
            <a:ahLst/>
            <a:cxnLst/>
            <a:rect l="l" t="t" r="r" b="b"/>
            <a:pathLst>
              <a:path w="4208573" h="4247184">
                <a:moveTo>
                  <a:pt x="0" y="0"/>
                </a:moveTo>
                <a:lnTo>
                  <a:pt x="4208574" y="0"/>
                </a:lnTo>
                <a:lnTo>
                  <a:pt x="4208574" y="4247184"/>
                </a:lnTo>
                <a:lnTo>
                  <a:pt x="0" y="424718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TextBox 5">
            <a:extLst>
              <a:ext uri="{FF2B5EF4-FFF2-40B4-BE49-F238E27FC236}">
                <a16:creationId xmlns:a16="http://schemas.microsoft.com/office/drawing/2014/main" id="{F05217EC-43D6-80B6-9737-0F34483CF9CC}"/>
              </a:ext>
            </a:extLst>
          </p:cNvPr>
          <p:cNvSpPr txBox="1"/>
          <p:nvPr/>
        </p:nvSpPr>
        <p:spPr>
          <a:xfrm>
            <a:off x="719592" y="419100"/>
            <a:ext cx="8092094" cy="116653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Tree</a:t>
            </a:r>
          </a:p>
        </p:txBody>
      </p:sp>
      <p:sp>
        <p:nvSpPr>
          <p:cNvPr id="7" name="TextBox 6">
            <a:extLst>
              <a:ext uri="{FF2B5EF4-FFF2-40B4-BE49-F238E27FC236}">
                <a16:creationId xmlns:a16="http://schemas.microsoft.com/office/drawing/2014/main" id="{482223AD-B22B-2571-0E92-817EDD76FBB3}"/>
              </a:ext>
            </a:extLst>
          </p:cNvPr>
          <p:cNvSpPr txBox="1"/>
          <p:nvPr/>
        </p:nvSpPr>
        <p:spPr>
          <a:xfrm>
            <a:off x="1150027" y="1420809"/>
            <a:ext cx="9364920" cy="2165401"/>
          </a:xfrm>
          <a:prstGeom prst="rect">
            <a:avLst/>
          </a:prstGeom>
        </p:spPr>
        <p:txBody>
          <a:bodyPr wrap="square"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Characteristics: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1) Acyclic</a:t>
            </a:r>
          </a:p>
          <a:p>
            <a:pPr marL="0" lvl="0" indent="0" algn="l">
              <a:lnSpc>
                <a:spcPct val="150000"/>
              </a:lnSpc>
              <a:spcBef>
                <a:spcPct val="0"/>
              </a:spcBef>
            </a:pPr>
            <a:r>
              <a:rPr lang="en-US" sz="2400" spc="119" dirty="0">
                <a:solidFill>
                  <a:srgbClr val="000000"/>
                </a:solidFill>
                <a:latin typeface="DM Sans"/>
                <a:ea typeface="DM Sans"/>
                <a:cs typeface="DM Sans"/>
                <a:sym typeface="DM Sans"/>
              </a:rPr>
              <a:t>2) Efficient Lookup</a:t>
            </a:r>
            <a:br>
              <a:rPr lang="en-US" sz="2400" spc="119" dirty="0">
                <a:solidFill>
                  <a:srgbClr val="000000"/>
                </a:solidFill>
                <a:latin typeface="DM Sans"/>
                <a:ea typeface="DM Sans"/>
                <a:cs typeface="DM Sans"/>
                <a:sym typeface="DM Sans"/>
              </a:rPr>
            </a:br>
            <a:r>
              <a:rPr lang="en-US" sz="2400" spc="119" dirty="0">
                <a:solidFill>
                  <a:srgbClr val="000000"/>
                </a:solidFill>
                <a:latin typeface="DM Sans"/>
                <a:ea typeface="DM Sans"/>
                <a:cs typeface="DM Sans"/>
                <a:sym typeface="DM Sans"/>
              </a:rPr>
              <a:t>3) Hierarchical Structure</a:t>
            </a:r>
          </a:p>
        </p:txBody>
      </p:sp>
      <p:sp>
        <p:nvSpPr>
          <p:cNvPr id="4" name="TextBox 3">
            <a:extLst>
              <a:ext uri="{FF2B5EF4-FFF2-40B4-BE49-F238E27FC236}">
                <a16:creationId xmlns:a16="http://schemas.microsoft.com/office/drawing/2014/main" id="{213CC604-FAEC-6E44-66E9-E62122CB8CFC}"/>
              </a:ext>
            </a:extLst>
          </p:cNvPr>
          <p:cNvSpPr txBox="1"/>
          <p:nvPr/>
        </p:nvSpPr>
        <p:spPr>
          <a:xfrm>
            <a:off x="1095518" y="3677219"/>
            <a:ext cx="2248685" cy="1611403"/>
          </a:xfrm>
          <a:prstGeom prst="rect">
            <a:avLst/>
          </a:prstGeom>
        </p:spPr>
        <p:txBody>
          <a:bodyPr wrap="square"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Traversals: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Preorder</a:t>
            </a:r>
            <a:br>
              <a:rPr lang="en-US" sz="2400" u="none" spc="119" dirty="0">
                <a:solidFill>
                  <a:srgbClr val="000000"/>
                </a:solidFill>
                <a:latin typeface="DM Sans"/>
                <a:ea typeface="DM Sans"/>
                <a:cs typeface="DM Sans"/>
                <a:sym typeface="DM Sans"/>
              </a:rPr>
            </a:br>
            <a:r>
              <a:rPr lang="en-US" sz="2400" u="none" spc="119" dirty="0" err="1">
                <a:solidFill>
                  <a:srgbClr val="000000"/>
                </a:solidFill>
                <a:latin typeface="DM Sans"/>
                <a:ea typeface="DM Sans"/>
                <a:cs typeface="DM Sans"/>
                <a:sym typeface="DM Sans"/>
              </a:rPr>
              <a:t>Inorder</a:t>
            </a:r>
            <a:endParaRPr lang="en-US" sz="2400" u="none" spc="119" dirty="0">
              <a:solidFill>
                <a:srgbClr val="000000"/>
              </a:solidFill>
              <a:latin typeface="DM Sans"/>
              <a:ea typeface="DM Sans"/>
              <a:cs typeface="DM Sans"/>
              <a:sym typeface="DM Sans"/>
            </a:endParaRPr>
          </a:p>
        </p:txBody>
      </p:sp>
      <p:sp>
        <p:nvSpPr>
          <p:cNvPr id="6" name="TextBox 5">
            <a:extLst>
              <a:ext uri="{FF2B5EF4-FFF2-40B4-BE49-F238E27FC236}">
                <a16:creationId xmlns:a16="http://schemas.microsoft.com/office/drawing/2014/main" id="{8EFCD65B-1922-B546-789B-9A3CC7540734}"/>
              </a:ext>
            </a:extLst>
          </p:cNvPr>
          <p:cNvSpPr txBox="1"/>
          <p:nvPr/>
        </p:nvSpPr>
        <p:spPr>
          <a:xfrm>
            <a:off x="1104115" y="5645099"/>
            <a:ext cx="7707571" cy="2165401"/>
          </a:xfrm>
          <a:prstGeom prst="rect">
            <a:avLst/>
          </a:prstGeom>
        </p:spPr>
        <p:txBody>
          <a:bodyPr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Applications: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Decision Trees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Expression Trees</a:t>
            </a:r>
          </a:p>
          <a:p>
            <a:pPr marL="0" lvl="0" indent="0" algn="l">
              <a:lnSpc>
                <a:spcPct val="150000"/>
              </a:lnSpc>
              <a:spcBef>
                <a:spcPct val="0"/>
              </a:spcBef>
            </a:pPr>
            <a:r>
              <a:rPr lang="en-US" sz="2400" spc="119" dirty="0">
                <a:solidFill>
                  <a:srgbClr val="000000"/>
                </a:solidFill>
                <a:latin typeface="DM Sans"/>
                <a:ea typeface="DM Sans"/>
                <a:cs typeface="DM Sans"/>
                <a:sym typeface="DM Sans"/>
              </a:rPr>
              <a:t>File System Structure</a:t>
            </a:r>
            <a:endParaRPr lang="en-US" sz="2400" u="none" spc="119" dirty="0">
              <a:solidFill>
                <a:srgbClr val="000000"/>
              </a:solidFill>
              <a:latin typeface="DM Sans"/>
              <a:ea typeface="DM Sans"/>
              <a:cs typeface="DM Sans"/>
              <a:sym typeface="DM Sans"/>
            </a:endParaRPr>
          </a:p>
        </p:txBody>
      </p:sp>
      <p:grpSp>
        <p:nvGrpSpPr>
          <p:cNvPr id="9" name="Group 8">
            <a:extLst>
              <a:ext uri="{FF2B5EF4-FFF2-40B4-BE49-F238E27FC236}">
                <a16:creationId xmlns:a16="http://schemas.microsoft.com/office/drawing/2014/main" id="{3463181C-42E1-A1EA-B6EF-B5DB9DC7C0BA}"/>
              </a:ext>
            </a:extLst>
          </p:cNvPr>
          <p:cNvGrpSpPr/>
          <p:nvPr/>
        </p:nvGrpSpPr>
        <p:grpSpPr>
          <a:xfrm>
            <a:off x="12649200" y="8267700"/>
            <a:ext cx="5038072" cy="1538320"/>
            <a:chOff x="12804495" y="8322188"/>
            <a:chExt cx="5038072" cy="1538320"/>
          </a:xfrm>
        </p:grpSpPr>
        <p:grpSp>
          <p:nvGrpSpPr>
            <p:cNvPr id="10" name="Group 3">
              <a:extLst>
                <a:ext uri="{FF2B5EF4-FFF2-40B4-BE49-F238E27FC236}">
                  <a16:creationId xmlns:a16="http://schemas.microsoft.com/office/drawing/2014/main" id="{3925A4B4-DF5B-1DB4-A320-5AE98F0C3D84}"/>
                </a:ext>
              </a:extLst>
            </p:cNvPr>
            <p:cNvGrpSpPr/>
            <p:nvPr/>
          </p:nvGrpSpPr>
          <p:grpSpPr>
            <a:xfrm>
              <a:off x="12804496" y="8773680"/>
              <a:ext cx="5038071" cy="1086828"/>
              <a:chOff x="0" y="0"/>
              <a:chExt cx="1048738" cy="740906"/>
            </a:xfrm>
          </p:grpSpPr>
          <p:sp>
            <p:nvSpPr>
              <p:cNvPr id="36" name="Freeform 4">
                <a:extLst>
                  <a:ext uri="{FF2B5EF4-FFF2-40B4-BE49-F238E27FC236}">
                    <a16:creationId xmlns:a16="http://schemas.microsoft.com/office/drawing/2014/main" id="{84659537-2A2B-DA58-6424-9F84420D7684}"/>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37" name="TextBox 5">
                <a:extLst>
                  <a:ext uri="{FF2B5EF4-FFF2-40B4-BE49-F238E27FC236}">
                    <a16:creationId xmlns:a16="http://schemas.microsoft.com/office/drawing/2014/main" id="{C680A09A-380D-2E48-5A7F-F0954E634AA3}"/>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11" name="Group 15">
              <a:extLst>
                <a:ext uri="{FF2B5EF4-FFF2-40B4-BE49-F238E27FC236}">
                  <a16:creationId xmlns:a16="http://schemas.microsoft.com/office/drawing/2014/main" id="{EB7B2F85-2DB0-83C6-01DC-97083ADDE6CA}"/>
                </a:ext>
              </a:extLst>
            </p:cNvPr>
            <p:cNvGrpSpPr/>
            <p:nvPr/>
          </p:nvGrpSpPr>
          <p:grpSpPr>
            <a:xfrm>
              <a:off x="12804495" y="8322188"/>
              <a:ext cx="5038071" cy="617195"/>
              <a:chOff x="0" y="0"/>
              <a:chExt cx="1048738" cy="139206"/>
            </a:xfrm>
          </p:grpSpPr>
          <p:sp>
            <p:nvSpPr>
              <p:cNvPr id="34" name="Freeform 16">
                <a:extLst>
                  <a:ext uri="{FF2B5EF4-FFF2-40B4-BE49-F238E27FC236}">
                    <a16:creationId xmlns:a16="http://schemas.microsoft.com/office/drawing/2014/main" id="{56535288-C5A9-8E04-90E1-CFA8BA65870C}"/>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35" name="TextBox 34">
                <a:extLst>
                  <a:ext uri="{FF2B5EF4-FFF2-40B4-BE49-F238E27FC236}">
                    <a16:creationId xmlns:a16="http://schemas.microsoft.com/office/drawing/2014/main" id="{B7800418-8550-BE33-EB28-434F2124D416}"/>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32" name="TextBox 28">
              <a:extLst>
                <a:ext uri="{FF2B5EF4-FFF2-40B4-BE49-F238E27FC236}">
                  <a16:creationId xmlns:a16="http://schemas.microsoft.com/office/drawing/2014/main" id="{029AC88A-621F-4581-45D2-185A9DC2707B}"/>
                </a:ext>
              </a:extLst>
            </p:cNvPr>
            <p:cNvSpPr txBox="1"/>
            <p:nvPr/>
          </p:nvSpPr>
          <p:spPr>
            <a:xfrm>
              <a:off x="13121506" y="8502589"/>
              <a:ext cx="3739422" cy="320601"/>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Disadvantages</a:t>
              </a:r>
            </a:p>
          </p:txBody>
        </p:sp>
        <p:sp>
          <p:nvSpPr>
            <p:cNvPr id="33" name="TextBox 32">
              <a:extLst>
                <a:ext uri="{FF2B5EF4-FFF2-40B4-BE49-F238E27FC236}">
                  <a16:creationId xmlns:a16="http://schemas.microsoft.com/office/drawing/2014/main" id="{30BDC9E2-C669-416B-30E3-A8D1442DD926}"/>
                </a:ext>
              </a:extLst>
            </p:cNvPr>
            <p:cNvSpPr txBox="1"/>
            <p:nvPr/>
          </p:nvSpPr>
          <p:spPr>
            <a:xfrm>
              <a:off x="13106266" y="9162205"/>
              <a:ext cx="4137951" cy="299506"/>
            </a:xfrm>
            <a:prstGeom prst="rect">
              <a:avLst/>
            </a:prstGeom>
          </p:spPr>
          <p:txBody>
            <a:bodyPr lIns="0" tIns="0" rIns="0" bIns="0" rtlCol="0" anchor="t">
              <a:spAutoFit/>
            </a:bodyPr>
            <a:lstStyle/>
            <a:p>
              <a:pPr marL="0" lvl="0" indent="0" algn="l">
                <a:lnSpc>
                  <a:spcPts val="2160"/>
                </a:lnSpc>
                <a:spcBef>
                  <a:spcPct val="0"/>
                </a:spcBef>
              </a:pPr>
              <a:r>
                <a:rPr lang="en-US" sz="2400" spc="96" dirty="0">
                  <a:solidFill>
                    <a:srgbClr val="000000"/>
                  </a:solidFill>
                  <a:latin typeface="DM Sans"/>
                  <a:ea typeface="DM Sans"/>
                  <a:cs typeface="DM Sans"/>
                  <a:sym typeface="DM Sans"/>
                </a:rPr>
                <a:t>Complexity in Balancing</a:t>
              </a:r>
              <a:endParaRPr lang="en-US" sz="2400" u="none" spc="96" dirty="0">
                <a:solidFill>
                  <a:srgbClr val="000000"/>
                </a:solidFill>
                <a:latin typeface="DM Sans"/>
                <a:ea typeface="DM Sans"/>
                <a:cs typeface="DM Sans"/>
                <a:sym typeface="DM Sans"/>
              </a:endParaRPr>
            </a:p>
          </p:txBody>
        </p:sp>
      </p:grpSp>
      <p:grpSp>
        <p:nvGrpSpPr>
          <p:cNvPr id="38" name="Group 37">
            <a:extLst>
              <a:ext uri="{FF2B5EF4-FFF2-40B4-BE49-F238E27FC236}">
                <a16:creationId xmlns:a16="http://schemas.microsoft.com/office/drawing/2014/main" id="{6FE8E7FF-3954-8277-988F-4AC15490531B}"/>
              </a:ext>
            </a:extLst>
          </p:cNvPr>
          <p:cNvGrpSpPr/>
          <p:nvPr/>
        </p:nvGrpSpPr>
        <p:grpSpPr>
          <a:xfrm>
            <a:off x="12649200" y="6362700"/>
            <a:ext cx="5038072" cy="1538320"/>
            <a:chOff x="12804495" y="8322188"/>
            <a:chExt cx="5038072" cy="1538320"/>
          </a:xfrm>
        </p:grpSpPr>
        <p:grpSp>
          <p:nvGrpSpPr>
            <p:cNvPr id="39" name="Group 3">
              <a:extLst>
                <a:ext uri="{FF2B5EF4-FFF2-40B4-BE49-F238E27FC236}">
                  <a16:creationId xmlns:a16="http://schemas.microsoft.com/office/drawing/2014/main" id="{932A3E6C-63EB-E2BE-1557-E927F129FD84}"/>
                </a:ext>
              </a:extLst>
            </p:cNvPr>
            <p:cNvGrpSpPr/>
            <p:nvPr/>
          </p:nvGrpSpPr>
          <p:grpSpPr>
            <a:xfrm>
              <a:off x="12804496" y="8773680"/>
              <a:ext cx="5038071" cy="1086828"/>
              <a:chOff x="0" y="0"/>
              <a:chExt cx="1048738" cy="740906"/>
            </a:xfrm>
          </p:grpSpPr>
          <p:sp>
            <p:nvSpPr>
              <p:cNvPr id="45" name="Freeform 4">
                <a:extLst>
                  <a:ext uri="{FF2B5EF4-FFF2-40B4-BE49-F238E27FC236}">
                    <a16:creationId xmlns:a16="http://schemas.microsoft.com/office/drawing/2014/main" id="{62F90355-3012-328F-028D-6E7FE51F038B}"/>
                  </a:ext>
                </a:extLst>
              </p:cNvPr>
              <p:cNvSpPr/>
              <p:nvPr/>
            </p:nvSpPr>
            <p:spPr>
              <a:xfrm>
                <a:off x="0" y="0"/>
                <a:ext cx="1048738" cy="740906"/>
              </a:xfrm>
              <a:custGeom>
                <a:avLst/>
                <a:gdLst/>
                <a:ahLst/>
                <a:cxnLst/>
                <a:rect l="l" t="t" r="r" b="b"/>
                <a:pathLst>
                  <a:path w="1048738" h="740906">
                    <a:moveTo>
                      <a:pt x="52247" y="0"/>
                    </a:moveTo>
                    <a:lnTo>
                      <a:pt x="996490" y="0"/>
                    </a:lnTo>
                    <a:cubicBezTo>
                      <a:pt x="1010347" y="0"/>
                      <a:pt x="1023636" y="5505"/>
                      <a:pt x="1033435" y="15303"/>
                    </a:cubicBezTo>
                    <a:cubicBezTo>
                      <a:pt x="1043233" y="25101"/>
                      <a:pt x="1048738" y="38390"/>
                      <a:pt x="1048738" y="52247"/>
                    </a:cubicBezTo>
                    <a:lnTo>
                      <a:pt x="1048738" y="688659"/>
                    </a:lnTo>
                    <a:cubicBezTo>
                      <a:pt x="1048738" y="717514"/>
                      <a:pt x="1025346" y="740906"/>
                      <a:pt x="996490" y="740906"/>
                    </a:cubicBezTo>
                    <a:lnTo>
                      <a:pt x="52247" y="740906"/>
                    </a:lnTo>
                    <a:cubicBezTo>
                      <a:pt x="23392" y="740906"/>
                      <a:pt x="0" y="717514"/>
                      <a:pt x="0" y="688659"/>
                    </a:cubicBezTo>
                    <a:lnTo>
                      <a:pt x="0" y="52247"/>
                    </a:lnTo>
                    <a:cubicBezTo>
                      <a:pt x="0" y="23392"/>
                      <a:pt x="23392" y="0"/>
                      <a:pt x="52247" y="0"/>
                    </a:cubicBezTo>
                    <a:close/>
                  </a:path>
                </a:pathLst>
              </a:custGeom>
              <a:solidFill>
                <a:srgbClr val="8AB7E2"/>
              </a:solidFill>
              <a:ln w="19050" cap="rnd">
                <a:solidFill>
                  <a:srgbClr val="000000"/>
                </a:solidFill>
                <a:prstDash val="solid"/>
                <a:round/>
              </a:ln>
            </p:spPr>
            <p:txBody>
              <a:bodyPr/>
              <a:lstStyle/>
              <a:p>
                <a:endParaRPr lang="en-IN" dirty="0"/>
              </a:p>
            </p:txBody>
          </p:sp>
          <p:sp>
            <p:nvSpPr>
              <p:cNvPr id="46" name="TextBox 5">
                <a:extLst>
                  <a:ext uri="{FF2B5EF4-FFF2-40B4-BE49-F238E27FC236}">
                    <a16:creationId xmlns:a16="http://schemas.microsoft.com/office/drawing/2014/main" id="{F5661A30-18A4-B345-1604-5F3153B69AF6}"/>
                  </a:ext>
                </a:extLst>
              </p:cNvPr>
              <p:cNvSpPr txBox="1"/>
              <p:nvPr/>
            </p:nvSpPr>
            <p:spPr>
              <a:xfrm>
                <a:off x="0" y="-38100"/>
                <a:ext cx="1048738" cy="779006"/>
              </a:xfrm>
              <a:prstGeom prst="rect">
                <a:avLst/>
              </a:prstGeom>
            </p:spPr>
            <p:txBody>
              <a:bodyPr lIns="50800" tIns="50800" rIns="50800" bIns="50800" rtlCol="0" anchor="ctr"/>
              <a:lstStyle/>
              <a:p>
                <a:pPr algn="ctr">
                  <a:lnSpc>
                    <a:spcPts val="2659"/>
                  </a:lnSpc>
                </a:pPr>
                <a:endParaRPr/>
              </a:p>
            </p:txBody>
          </p:sp>
        </p:grpSp>
        <p:grpSp>
          <p:nvGrpSpPr>
            <p:cNvPr id="40" name="Group 15">
              <a:extLst>
                <a:ext uri="{FF2B5EF4-FFF2-40B4-BE49-F238E27FC236}">
                  <a16:creationId xmlns:a16="http://schemas.microsoft.com/office/drawing/2014/main" id="{D099B4BE-C9D6-A033-93C4-C8864D113F77}"/>
                </a:ext>
              </a:extLst>
            </p:cNvPr>
            <p:cNvGrpSpPr/>
            <p:nvPr/>
          </p:nvGrpSpPr>
          <p:grpSpPr>
            <a:xfrm>
              <a:off x="12804495" y="8322188"/>
              <a:ext cx="5038071" cy="617195"/>
              <a:chOff x="0" y="0"/>
              <a:chExt cx="1048738" cy="139206"/>
            </a:xfrm>
          </p:grpSpPr>
          <p:sp>
            <p:nvSpPr>
              <p:cNvPr id="43" name="Freeform 16">
                <a:extLst>
                  <a:ext uri="{FF2B5EF4-FFF2-40B4-BE49-F238E27FC236}">
                    <a16:creationId xmlns:a16="http://schemas.microsoft.com/office/drawing/2014/main" id="{7C1BCD0C-C603-7CF5-7D8C-4A76F2D5E012}"/>
                  </a:ext>
                </a:extLst>
              </p:cNvPr>
              <p:cNvSpPr/>
              <p:nvPr/>
            </p:nvSpPr>
            <p:spPr>
              <a:xfrm>
                <a:off x="0" y="0"/>
                <a:ext cx="1048738" cy="139206"/>
              </a:xfrm>
              <a:custGeom>
                <a:avLst/>
                <a:gdLst/>
                <a:ahLst/>
                <a:cxnLst/>
                <a:rect l="l" t="t" r="r" b="b"/>
                <a:pathLst>
                  <a:path w="1048738" h="139206">
                    <a:moveTo>
                      <a:pt x="26124" y="0"/>
                    </a:moveTo>
                    <a:lnTo>
                      <a:pt x="1022614" y="0"/>
                    </a:lnTo>
                    <a:cubicBezTo>
                      <a:pt x="1029542" y="0"/>
                      <a:pt x="1036187" y="2752"/>
                      <a:pt x="1041086" y="7651"/>
                    </a:cubicBezTo>
                    <a:cubicBezTo>
                      <a:pt x="1045985" y="12551"/>
                      <a:pt x="1048738" y="19195"/>
                      <a:pt x="1048738" y="26124"/>
                    </a:cubicBezTo>
                    <a:lnTo>
                      <a:pt x="1048738" y="113082"/>
                    </a:lnTo>
                    <a:cubicBezTo>
                      <a:pt x="1048738" y="127510"/>
                      <a:pt x="1037042" y="139206"/>
                      <a:pt x="1022614" y="139206"/>
                    </a:cubicBezTo>
                    <a:lnTo>
                      <a:pt x="26124" y="139206"/>
                    </a:lnTo>
                    <a:cubicBezTo>
                      <a:pt x="19195" y="139206"/>
                      <a:pt x="12551" y="136454"/>
                      <a:pt x="7651" y="131554"/>
                    </a:cubicBezTo>
                    <a:cubicBezTo>
                      <a:pt x="2752" y="126655"/>
                      <a:pt x="0" y="120011"/>
                      <a:pt x="0" y="113082"/>
                    </a:cubicBezTo>
                    <a:lnTo>
                      <a:pt x="0" y="26124"/>
                    </a:lnTo>
                    <a:cubicBezTo>
                      <a:pt x="0" y="11696"/>
                      <a:pt x="11696" y="0"/>
                      <a:pt x="26124" y="0"/>
                    </a:cubicBezTo>
                    <a:close/>
                  </a:path>
                </a:pathLst>
              </a:custGeom>
              <a:solidFill>
                <a:srgbClr val="FFFFFF"/>
              </a:solidFill>
              <a:ln w="19050" cap="sq">
                <a:solidFill>
                  <a:srgbClr val="000000"/>
                </a:solidFill>
                <a:prstDash val="solid"/>
                <a:miter/>
              </a:ln>
            </p:spPr>
          </p:sp>
          <p:sp>
            <p:nvSpPr>
              <p:cNvPr id="44" name="TextBox 43">
                <a:extLst>
                  <a:ext uri="{FF2B5EF4-FFF2-40B4-BE49-F238E27FC236}">
                    <a16:creationId xmlns:a16="http://schemas.microsoft.com/office/drawing/2014/main" id="{E2473906-EBD8-C09E-202E-D6E2203552D9}"/>
                  </a:ext>
                </a:extLst>
              </p:cNvPr>
              <p:cNvSpPr txBox="1"/>
              <p:nvPr/>
            </p:nvSpPr>
            <p:spPr>
              <a:xfrm>
                <a:off x="0" y="-38100"/>
                <a:ext cx="1048738" cy="177306"/>
              </a:xfrm>
              <a:prstGeom prst="rect">
                <a:avLst/>
              </a:prstGeom>
            </p:spPr>
            <p:txBody>
              <a:bodyPr lIns="50800" tIns="50800" rIns="50800" bIns="50800" rtlCol="0" anchor="ctr"/>
              <a:lstStyle/>
              <a:p>
                <a:pPr algn="ctr">
                  <a:lnSpc>
                    <a:spcPts val="2659"/>
                  </a:lnSpc>
                </a:pPr>
                <a:endParaRPr/>
              </a:p>
            </p:txBody>
          </p:sp>
        </p:grpSp>
        <p:sp>
          <p:nvSpPr>
            <p:cNvPr id="41" name="TextBox 28">
              <a:extLst>
                <a:ext uri="{FF2B5EF4-FFF2-40B4-BE49-F238E27FC236}">
                  <a16:creationId xmlns:a16="http://schemas.microsoft.com/office/drawing/2014/main" id="{14D194B3-5A24-5F27-FE2D-5490F24D5BEC}"/>
                </a:ext>
              </a:extLst>
            </p:cNvPr>
            <p:cNvSpPr txBox="1"/>
            <p:nvPr/>
          </p:nvSpPr>
          <p:spPr>
            <a:xfrm>
              <a:off x="13121506" y="8502589"/>
              <a:ext cx="3739422" cy="320601"/>
            </a:xfrm>
            <a:prstGeom prst="rect">
              <a:avLst/>
            </a:prstGeom>
          </p:spPr>
          <p:txBody>
            <a:bodyPr lIns="0" tIns="0" rIns="0" bIns="0" rtlCol="0" anchor="t">
              <a:spAutoFit/>
            </a:bodyPr>
            <a:lstStyle/>
            <a:p>
              <a:pPr algn="l">
                <a:lnSpc>
                  <a:spcPts val="2495"/>
                </a:lnSpc>
              </a:pPr>
              <a:r>
                <a:rPr lang="en-US" sz="2132" b="1" dirty="0">
                  <a:solidFill>
                    <a:srgbClr val="000000"/>
                  </a:solidFill>
                  <a:latin typeface="DM Sans"/>
                  <a:ea typeface="DM Sans"/>
                  <a:cs typeface="DM Sans"/>
                  <a:sym typeface="DM Sans"/>
                </a:rPr>
                <a:t>Advantages</a:t>
              </a:r>
            </a:p>
          </p:txBody>
        </p:sp>
        <p:sp>
          <p:nvSpPr>
            <p:cNvPr id="42" name="TextBox 32">
              <a:extLst>
                <a:ext uri="{FF2B5EF4-FFF2-40B4-BE49-F238E27FC236}">
                  <a16:creationId xmlns:a16="http://schemas.microsoft.com/office/drawing/2014/main" id="{A66AA7B5-4570-A379-D5AE-CAF9185AE329}"/>
                </a:ext>
              </a:extLst>
            </p:cNvPr>
            <p:cNvSpPr txBox="1"/>
            <p:nvPr/>
          </p:nvSpPr>
          <p:spPr>
            <a:xfrm>
              <a:off x="13106267" y="9308685"/>
              <a:ext cx="4137951" cy="299506"/>
            </a:xfrm>
            <a:prstGeom prst="rect">
              <a:avLst/>
            </a:prstGeom>
          </p:spPr>
          <p:txBody>
            <a:bodyPr lIns="0" tIns="0" rIns="0" bIns="0" rtlCol="0" anchor="t">
              <a:spAutoFit/>
            </a:bodyPr>
            <a:lstStyle/>
            <a:p>
              <a:pPr marL="0" lvl="0" indent="0" algn="l">
                <a:lnSpc>
                  <a:spcPts val="2160"/>
                </a:lnSpc>
                <a:spcBef>
                  <a:spcPct val="0"/>
                </a:spcBef>
              </a:pPr>
              <a:r>
                <a:rPr lang="en-US" sz="2400" u="none" spc="96" dirty="0">
                  <a:solidFill>
                    <a:srgbClr val="000000"/>
                  </a:solidFill>
                  <a:latin typeface="DM Sans"/>
                  <a:ea typeface="DM Sans"/>
                  <a:cs typeface="DM Sans"/>
                  <a:sym typeface="DM Sans"/>
                </a:rPr>
                <a:t>Hierarchical Organization:</a:t>
              </a:r>
            </a:p>
          </p:txBody>
        </p:sp>
      </p:grpSp>
      <p:sp>
        <p:nvSpPr>
          <p:cNvPr id="48" name="TextBox 47">
            <a:extLst>
              <a:ext uri="{FF2B5EF4-FFF2-40B4-BE49-F238E27FC236}">
                <a16:creationId xmlns:a16="http://schemas.microsoft.com/office/drawing/2014/main" id="{F97B2573-351F-7F74-4D54-017288DFD372}"/>
              </a:ext>
            </a:extLst>
          </p:cNvPr>
          <p:cNvSpPr txBox="1"/>
          <p:nvPr/>
        </p:nvSpPr>
        <p:spPr>
          <a:xfrm>
            <a:off x="1150027" y="7854899"/>
            <a:ext cx="3269573" cy="2165401"/>
          </a:xfrm>
          <a:prstGeom prst="rect">
            <a:avLst/>
          </a:prstGeom>
        </p:spPr>
        <p:txBody>
          <a:bodyPr wrap="square" lIns="0" tIns="0" rIns="0" bIns="0" rtlCol="0" anchor="t">
            <a:spAutoFit/>
          </a:bodyPr>
          <a:lstStyle/>
          <a:p>
            <a:pPr marL="0" lvl="0" indent="0" algn="l">
              <a:lnSpc>
                <a:spcPct val="150000"/>
              </a:lnSpc>
              <a:spcBef>
                <a:spcPct val="0"/>
              </a:spcBef>
            </a:pPr>
            <a:r>
              <a:rPr lang="en-US" sz="2400" b="1" u="none" spc="119" dirty="0">
                <a:solidFill>
                  <a:srgbClr val="000000"/>
                </a:solidFill>
                <a:latin typeface="DM Sans"/>
                <a:ea typeface="DM Sans"/>
                <a:cs typeface="DM Sans"/>
                <a:sym typeface="DM Sans"/>
              </a:rPr>
              <a:t>Types: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Binary Trees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Binar</a:t>
            </a:r>
            <a:r>
              <a:rPr lang="en-US" sz="2400" spc="119" dirty="0">
                <a:solidFill>
                  <a:srgbClr val="000000"/>
                </a:solidFill>
                <a:latin typeface="DM Sans"/>
                <a:ea typeface="DM Sans"/>
                <a:cs typeface="DM Sans"/>
                <a:sym typeface="DM Sans"/>
              </a:rPr>
              <a:t>y Search Trees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AVL Tree</a:t>
            </a:r>
          </a:p>
        </p:txBody>
      </p:sp>
      <p:sp>
        <p:nvSpPr>
          <p:cNvPr id="8" name="TextBox 7">
            <a:extLst>
              <a:ext uri="{FF2B5EF4-FFF2-40B4-BE49-F238E27FC236}">
                <a16:creationId xmlns:a16="http://schemas.microsoft.com/office/drawing/2014/main" id="{743C8677-B6C6-C131-13F1-6AF853AD0D4F}"/>
              </a:ext>
            </a:extLst>
          </p:cNvPr>
          <p:cNvSpPr txBox="1"/>
          <p:nvPr/>
        </p:nvSpPr>
        <p:spPr>
          <a:xfrm>
            <a:off x="4765639" y="7901020"/>
            <a:ext cx="3269573" cy="2165401"/>
          </a:xfrm>
          <a:prstGeom prst="rect">
            <a:avLst/>
          </a:prstGeom>
        </p:spPr>
        <p:txBody>
          <a:bodyPr wrap="square" lIns="0" tIns="0" rIns="0" bIns="0" rtlCol="0" anchor="t">
            <a:spAutoFit/>
          </a:bodyPr>
          <a:lstStyle/>
          <a:p>
            <a:pPr marL="0" lvl="0" indent="0" algn="l">
              <a:lnSpc>
                <a:spcPct val="150000"/>
              </a:lnSpc>
              <a:spcBef>
                <a:spcPct val="0"/>
              </a:spcBef>
            </a:pP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Red-Black Trees</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B-Tree</a:t>
            </a:r>
            <a:br>
              <a:rPr lang="en-US" sz="2400" u="none" spc="119" dirty="0">
                <a:solidFill>
                  <a:srgbClr val="000000"/>
                </a:solidFill>
                <a:latin typeface="DM Sans"/>
                <a:ea typeface="DM Sans"/>
                <a:cs typeface="DM Sans"/>
                <a:sym typeface="DM Sans"/>
              </a:rPr>
            </a:br>
            <a:r>
              <a:rPr lang="en-US" sz="2400" u="none" spc="119" dirty="0" err="1">
                <a:solidFill>
                  <a:srgbClr val="000000"/>
                </a:solidFill>
                <a:latin typeface="DM Sans"/>
                <a:ea typeface="DM Sans"/>
                <a:cs typeface="DM Sans"/>
                <a:sym typeface="DM Sans"/>
              </a:rPr>
              <a:t>Trie</a:t>
            </a:r>
            <a:endParaRPr lang="en-US" sz="2400" u="none" spc="119" dirty="0">
              <a:solidFill>
                <a:srgbClr val="000000"/>
              </a:solidFill>
              <a:latin typeface="DM Sans"/>
              <a:ea typeface="DM Sans"/>
              <a:cs typeface="DM Sans"/>
              <a:sym typeface="DM Sans"/>
            </a:endParaRPr>
          </a:p>
        </p:txBody>
      </p:sp>
      <p:sp>
        <p:nvSpPr>
          <p:cNvPr id="12" name="TextBox 11">
            <a:extLst>
              <a:ext uri="{FF2B5EF4-FFF2-40B4-BE49-F238E27FC236}">
                <a16:creationId xmlns:a16="http://schemas.microsoft.com/office/drawing/2014/main" id="{00CA5DA6-8AC3-89C0-6933-7952D13103A8}"/>
              </a:ext>
            </a:extLst>
          </p:cNvPr>
          <p:cNvSpPr txBox="1"/>
          <p:nvPr/>
        </p:nvSpPr>
        <p:spPr>
          <a:xfrm>
            <a:off x="3390115" y="3684497"/>
            <a:ext cx="2248685" cy="1611403"/>
          </a:xfrm>
          <a:prstGeom prst="rect">
            <a:avLst/>
          </a:prstGeom>
        </p:spPr>
        <p:txBody>
          <a:bodyPr wrap="square" lIns="0" tIns="0" rIns="0" bIns="0" rtlCol="0" anchor="t">
            <a:spAutoFit/>
          </a:bodyPr>
          <a:lstStyle/>
          <a:p>
            <a:pPr marL="0" lvl="0" indent="0" algn="l">
              <a:lnSpc>
                <a:spcPct val="150000"/>
              </a:lnSpc>
              <a:spcBef>
                <a:spcPct val="0"/>
              </a:spcBef>
            </a:pPr>
            <a:br>
              <a:rPr lang="en-US" sz="2400" u="none" spc="119" dirty="0">
                <a:solidFill>
                  <a:srgbClr val="000000"/>
                </a:solidFill>
                <a:latin typeface="DM Sans"/>
                <a:ea typeface="DM Sans"/>
                <a:cs typeface="DM Sans"/>
                <a:sym typeface="DM Sans"/>
              </a:rPr>
            </a:br>
            <a:r>
              <a:rPr lang="en-US" sz="2400" u="none" spc="119" dirty="0" err="1">
                <a:solidFill>
                  <a:srgbClr val="000000"/>
                </a:solidFill>
                <a:latin typeface="DM Sans"/>
                <a:ea typeface="DM Sans"/>
                <a:cs typeface="DM Sans"/>
                <a:sym typeface="DM Sans"/>
              </a:rPr>
              <a:t>Postorder</a:t>
            </a:r>
            <a:br>
              <a:rPr lang="en-US" sz="2400" u="none" spc="119" dirty="0">
                <a:solidFill>
                  <a:srgbClr val="000000"/>
                </a:solidFill>
                <a:latin typeface="DM Sans"/>
                <a:ea typeface="DM Sans"/>
                <a:cs typeface="DM Sans"/>
                <a:sym typeface="DM Sans"/>
              </a:rPr>
            </a:br>
            <a:r>
              <a:rPr lang="en-US" sz="2400" u="none" spc="119" dirty="0">
                <a:solidFill>
                  <a:srgbClr val="000000"/>
                </a:solidFill>
                <a:latin typeface="DM Sans"/>
                <a:ea typeface="DM Sans"/>
                <a:cs typeface="DM Sans"/>
                <a:sym typeface="DM Sans"/>
              </a:rPr>
              <a:t>Level Order</a:t>
            </a:r>
          </a:p>
        </p:txBody>
      </p:sp>
      <p:pic>
        <p:nvPicPr>
          <p:cNvPr id="13" name="Picture 2" descr="How I Mastered Data Structures and Algorithms">
            <a:extLst>
              <a:ext uri="{FF2B5EF4-FFF2-40B4-BE49-F238E27FC236}">
                <a16:creationId xmlns:a16="http://schemas.microsoft.com/office/drawing/2014/main" id="{D1A10C5D-D7FA-A05C-E906-5BFEDFAD82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7516" b="52096"/>
          <a:stretch/>
        </p:blipFill>
        <p:spPr bwMode="auto">
          <a:xfrm>
            <a:off x="7428973" y="2087400"/>
            <a:ext cx="4352363" cy="3885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336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3" name="Freeform 3"/>
          <p:cNvSpPr/>
          <p:nvPr/>
        </p:nvSpPr>
        <p:spPr>
          <a:xfrm>
            <a:off x="10819907" y="1950456"/>
            <a:ext cx="4208573" cy="4247184"/>
          </a:xfrm>
          <a:custGeom>
            <a:avLst/>
            <a:gdLst/>
            <a:ahLst/>
            <a:cxnLst/>
            <a:rect l="l" t="t" r="r" b="b"/>
            <a:pathLst>
              <a:path w="4208573" h="4247184">
                <a:moveTo>
                  <a:pt x="0" y="0"/>
                </a:moveTo>
                <a:lnTo>
                  <a:pt x="4208573" y="0"/>
                </a:lnTo>
                <a:lnTo>
                  <a:pt x="4208573" y="4247184"/>
                </a:lnTo>
                <a:lnTo>
                  <a:pt x="0" y="424718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10256115" y="2639048"/>
            <a:ext cx="7181225" cy="5008904"/>
          </a:xfrm>
          <a:custGeom>
            <a:avLst/>
            <a:gdLst/>
            <a:ahLst/>
            <a:cxnLst/>
            <a:rect l="l" t="t" r="r" b="b"/>
            <a:pathLst>
              <a:path w="7181225" h="5008904">
                <a:moveTo>
                  <a:pt x="0" y="0"/>
                </a:moveTo>
                <a:lnTo>
                  <a:pt x="7181225" y="0"/>
                </a:lnTo>
                <a:lnTo>
                  <a:pt x="7181225" y="5008904"/>
                </a:lnTo>
                <a:lnTo>
                  <a:pt x="0" y="50089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1504950" y="928962"/>
            <a:ext cx="8751165" cy="1166538"/>
          </a:xfrm>
          <a:prstGeom prst="rect">
            <a:avLst/>
          </a:prstGeom>
        </p:spPr>
        <p:txBody>
          <a:bodyPr lIns="0" tIns="0" rIns="0" bIns="0" rtlCol="0" anchor="t">
            <a:spAutoFit/>
          </a:bodyPr>
          <a:lstStyle/>
          <a:p>
            <a:pPr algn="l">
              <a:lnSpc>
                <a:spcPts val="8730"/>
              </a:lnSpc>
            </a:pPr>
            <a:r>
              <a:rPr lang="en-US" sz="9000" b="1" dirty="0">
                <a:solidFill>
                  <a:srgbClr val="000000"/>
                </a:solidFill>
                <a:latin typeface="DM Sans Bold"/>
                <a:ea typeface="DM Sans Bold"/>
                <a:cs typeface="DM Sans Bold"/>
                <a:sym typeface="DM Sans Bold"/>
              </a:rPr>
              <a:t>Conclusion</a:t>
            </a:r>
          </a:p>
        </p:txBody>
      </p:sp>
      <p:sp>
        <p:nvSpPr>
          <p:cNvPr id="6" name="TextBox 6"/>
          <p:cNvSpPr txBox="1"/>
          <p:nvPr/>
        </p:nvSpPr>
        <p:spPr>
          <a:xfrm>
            <a:off x="1504950" y="2472436"/>
            <a:ext cx="7707571" cy="708527"/>
          </a:xfrm>
          <a:prstGeom prst="rect">
            <a:avLst/>
          </a:prstGeom>
        </p:spPr>
        <p:txBody>
          <a:bodyPr lIns="0" tIns="0" rIns="0" bIns="0" rtlCol="0" anchor="t">
            <a:spAutoFit/>
          </a:bodyPr>
          <a:lstStyle/>
          <a:p>
            <a:pPr marL="0" lvl="0" indent="0" algn="l">
              <a:lnSpc>
                <a:spcPts val="2699"/>
              </a:lnSpc>
              <a:spcBef>
                <a:spcPct val="0"/>
              </a:spcBef>
            </a:pPr>
            <a:r>
              <a:rPr lang="en-US" sz="2800" b="1" u="none" spc="119" dirty="0">
                <a:solidFill>
                  <a:srgbClr val="000000"/>
                </a:solidFill>
                <a:latin typeface="DM Sans"/>
                <a:ea typeface="DM Sans"/>
                <a:cs typeface="DM Sans"/>
                <a:sym typeface="DM Sans"/>
              </a:rPr>
              <a:t>Arrays</a:t>
            </a:r>
            <a:r>
              <a:rPr lang="en-US" sz="2800" u="none" spc="119" dirty="0">
                <a:solidFill>
                  <a:srgbClr val="000000"/>
                </a:solidFill>
                <a:latin typeface="DM Sans"/>
                <a:ea typeface="DM Sans"/>
                <a:cs typeface="DM Sans"/>
                <a:sym typeface="DM Sans"/>
              </a:rPr>
              <a:t> offer contiguous memory storage for fast indexing.</a:t>
            </a:r>
          </a:p>
        </p:txBody>
      </p:sp>
      <p:sp>
        <p:nvSpPr>
          <p:cNvPr id="8" name="TextBox 6">
            <a:extLst>
              <a:ext uri="{FF2B5EF4-FFF2-40B4-BE49-F238E27FC236}">
                <a16:creationId xmlns:a16="http://schemas.microsoft.com/office/drawing/2014/main" id="{303F5FEF-16D1-D235-A814-9F9B13D0D4AF}"/>
              </a:ext>
            </a:extLst>
          </p:cNvPr>
          <p:cNvSpPr txBox="1"/>
          <p:nvPr/>
        </p:nvSpPr>
        <p:spPr>
          <a:xfrm>
            <a:off x="1504949" y="3520868"/>
            <a:ext cx="7707571" cy="708527"/>
          </a:xfrm>
          <a:prstGeom prst="rect">
            <a:avLst/>
          </a:prstGeom>
        </p:spPr>
        <p:txBody>
          <a:bodyPr lIns="0" tIns="0" rIns="0" bIns="0" rtlCol="0" anchor="t">
            <a:spAutoFit/>
          </a:bodyPr>
          <a:lstStyle/>
          <a:p>
            <a:pPr marL="0" lvl="0" indent="0" algn="l">
              <a:lnSpc>
                <a:spcPts val="2699"/>
              </a:lnSpc>
              <a:spcBef>
                <a:spcPct val="0"/>
              </a:spcBef>
            </a:pPr>
            <a:r>
              <a:rPr lang="en-US" sz="2800" b="1" u="none" spc="119" dirty="0">
                <a:solidFill>
                  <a:srgbClr val="000000"/>
                </a:solidFill>
                <a:latin typeface="DM Sans"/>
                <a:ea typeface="DM Sans"/>
                <a:cs typeface="DM Sans"/>
                <a:sym typeface="DM Sans"/>
              </a:rPr>
              <a:t>Linked lists </a:t>
            </a:r>
            <a:r>
              <a:rPr lang="en-US" sz="2800" u="none" spc="119" dirty="0">
                <a:solidFill>
                  <a:srgbClr val="000000"/>
                </a:solidFill>
                <a:latin typeface="DM Sans"/>
                <a:ea typeface="DM Sans"/>
                <a:cs typeface="DM Sans"/>
                <a:sym typeface="DM Sans"/>
              </a:rPr>
              <a:t>allow dynamic memory allocation and efficient insertion/deletion.</a:t>
            </a:r>
          </a:p>
        </p:txBody>
      </p:sp>
      <p:sp>
        <p:nvSpPr>
          <p:cNvPr id="9" name="TextBox 6">
            <a:extLst>
              <a:ext uri="{FF2B5EF4-FFF2-40B4-BE49-F238E27FC236}">
                <a16:creationId xmlns:a16="http://schemas.microsoft.com/office/drawing/2014/main" id="{326B911C-B8D0-67CC-1116-40F3888D61F0}"/>
              </a:ext>
            </a:extLst>
          </p:cNvPr>
          <p:cNvSpPr txBox="1"/>
          <p:nvPr/>
        </p:nvSpPr>
        <p:spPr>
          <a:xfrm>
            <a:off x="1504949" y="4570304"/>
            <a:ext cx="7707571" cy="1054776"/>
          </a:xfrm>
          <a:prstGeom prst="rect">
            <a:avLst/>
          </a:prstGeom>
        </p:spPr>
        <p:txBody>
          <a:bodyPr lIns="0" tIns="0" rIns="0" bIns="0" rtlCol="0" anchor="t">
            <a:spAutoFit/>
          </a:bodyPr>
          <a:lstStyle/>
          <a:p>
            <a:pPr marL="0" lvl="0" indent="0" algn="l">
              <a:lnSpc>
                <a:spcPts val="2699"/>
              </a:lnSpc>
              <a:spcBef>
                <a:spcPct val="0"/>
              </a:spcBef>
            </a:pPr>
            <a:r>
              <a:rPr lang="en-US" sz="2800" b="1" u="none" spc="119" dirty="0">
                <a:solidFill>
                  <a:srgbClr val="000000"/>
                </a:solidFill>
                <a:latin typeface="DM Sans"/>
                <a:ea typeface="DM Sans"/>
                <a:cs typeface="DM Sans"/>
                <a:sym typeface="DM Sans"/>
              </a:rPr>
              <a:t>Stacks </a:t>
            </a:r>
            <a:r>
              <a:rPr lang="en-US" sz="2800" u="none" spc="119" dirty="0">
                <a:solidFill>
                  <a:srgbClr val="000000"/>
                </a:solidFill>
                <a:latin typeface="DM Sans"/>
                <a:ea typeface="DM Sans"/>
                <a:cs typeface="DM Sans"/>
                <a:sym typeface="DM Sans"/>
              </a:rPr>
              <a:t>and</a:t>
            </a:r>
            <a:r>
              <a:rPr lang="en-US" sz="2800" b="1" u="none" spc="119" dirty="0">
                <a:solidFill>
                  <a:srgbClr val="000000"/>
                </a:solidFill>
                <a:latin typeface="DM Sans"/>
                <a:ea typeface="DM Sans"/>
                <a:cs typeface="DM Sans"/>
                <a:sym typeface="DM Sans"/>
              </a:rPr>
              <a:t> queues </a:t>
            </a:r>
            <a:r>
              <a:rPr lang="en-US" sz="2800" u="none" spc="119" dirty="0">
                <a:solidFill>
                  <a:srgbClr val="000000"/>
                </a:solidFill>
                <a:latin typeface="DM Sans"/>
                <a:ea typeface="DM Sans"/>
                <a:cs typeface="DM Sans"/>
                <a:sym typeface="DM Sans"/>
              </a:rPr>
              <a:t>provide last-in-first-out and first-in-first-out management, respectively.</a:t>
            </a:r>
          </a:p>
        </p:txBody>
      </p:sp>
      <p:sp>
        <p:nvSpPr>
          <p:cNvPr id="10" name="TextBox 6">
            <a:extLst>
              <a:ext uri="{FF2B5EF4-FFF2-40B4-BE49-F238E27FC236}">
                <a16:creationId xmlns:a16="http://schemas.microsoft.com/office/drawing/2014/main" id="{044CFCC7-1270-A593-1ED0-A81750499367}"/>
              </a:ext>
            </a:extLst>
          </p:cNvPr>
          <p:cNvSpPr txBox="1"/>
          <p:nvPr/>
        </p:nvSpPr>
        <p:spPr>
          <a:xfrm>
            <a:off x="1466908" y="7357490"/>
            <a:ext cx="7707571" cy="708527"/>
          </a:xfrm>
          <a:prstGeom prst="rect">
            <a:avLst/>
          </a:prstGeom>
        </p:spPr>
        <p:txBody>
          <a:bodyPr lIns="0" tIns="0" rIns="0" bIns="0" rtlCol="0" anchor="t">
            <a:spAutoFit/>
          </a:bodyPr>
          <a:lstStyle/>
          <a:p>
            <a:pPr marL="0" lvl="0" indent="0" algn="l">
              <a:lnSpc>
                <a:spcPts val="2699"/>
              </a:lnSpc>
              <a:spcBef>
                <a:spcPct val="0"/>
              </a:spcBef>
            </a:pPr>
            <a:r>
              <a:rPr lang="en-US" sz="2800" b="1" u="none" spc="119" dirty="0">
                <a:solidFill>
                  <a:srgbClr val="000000"/>
                </a:solidFill>
                <a:latin typeface="DM Sans"/>
                <a:ea typeface="DM Sans"/>
                <a:cs typeface="DM Sans"/>
                <a:sym typeface="DM Sans"/>
              </a:rPr>
              <a:t>Trees </a:t>
            </a:r>
            <a:r>
              <a:rPr lang="en-US" sz="2800" u="none" spc="119" dirty="0">
                <a:solidFill>
                  <a:srgbClr val="000000"/>
                </a:solidFill>
                <a:latin typeface="DM Sans"/>
                <a:ea typeface="DM Sans"/>
                <a:cs typeface="DM Sans"/>
                <a:sym typeface="DM Sans"/>
              </a:rPr>
              <a:t>and</a:t>
            </a:r>
            <a:r>
              <a:rPr lang="en-US" sz="2800" b="1" u="none" spc="119" dirty="0">
                <a:solidFill>
                  <a:srgbClr val="000000"/>
                </a:solidFill>
                <a:latin typeface="DM Sans"/>
                <a:ea typeface="DM Sans"/>
                <a:cs typeface="DM Sans"/>
                <a:sym typeface="DM Sans"/>
              </a:rPr>
              <a:t> heaps </a:t>
            </a:r>
            <a:r>
              <a:rPr lang="en-US" sz="2800" u="none" spc="119" dirty="0">
                <a:solidFill>
                  <a:srgbClr val="000000"/>
                </a:solidFill>
                <a:latin typeface="DM Sans"/>
                <a:ea typeface="DM Sans"/>
                <a:cs typeface="DM Sans"/>
                <a:sym typeface="DM Sans"/>
              </a:rPr>
              <a:t>support hierarchical data organization and prioritization.</a:t>
            </a:r>
          </a:p>
        </p:txBody>
      </p:sp>
      <p:sp>
        <p:nvSpPr>
          <p:cNvPr id="11" name="TextBox 6">
            <a:extLst>
              <a:ext uri="{FF2B5EF4-FFF2-40B4-BE49-F238E27FC236}">
                <a16:creationId xmlns:a16="http://schemas.microsoft.com/office/drawing/2014/main" id="{DA96B0FE-98A2-94F8-39E8-BAD2C8B24EC3}"/>
              </a:ext>
            </a:extLst>
          </p:cNvPr>
          <p:cNvSpPr txBox="1"/>
          <p:nvPr/>
        </p:nvSpPr>
        <p:spPr>
          <a:xfrm>
            <a:off x="1504948" y="5963897"/>
            <a:ext cx="7707571" cy="1054776"/>
          </a:xfrm>
          <a:prstGeom prst="rect">
            <a:avLst/>
          </a:prstGeom>
        </p:spPr>
        <p:txBody>
          <a:bodyPr lIns="0" tIns="0" rIns="0" bIns="0" rtlCol="0" anchor="t">
            <a:spAutoFit/>
          </a:bodyPr>
          <a:lstStyle/>
          <a:p>
            <a:pPr marL="0" lvl="0" indent="0" algn="l">
              <a:lnSpc>
                <a:spcPts val="2699"/>
              </a:lnSpc>
              <a:spcBef>
                <a:spcPct val="0"/>
              </a:spcBef>
            </a:pPr>
            <a:r>
              <a:rPr lang="en-US" sz="2800" b="1" u="none" spc="119" dirty="0">
                <a:solidFill>
                  <a:srgbClr val="000000"/>
                </a:solidFill>
                <a:latin typeface="DM Sans"/>
                <a:ea typeface="DM Sans"/>
                <a:cs typeface="DM Sans"/>
                <a:sym typeface="DM Sans"/>
              </a:rPr>
              <a:t>Maps </a:t>
            </a:r>
            <a:r>
              <a:rPr lang="en-US" sz="2800" u="none" spc="119" dirty="0">
                <a:solidFill>
                  <a:srgbClr val="000000"/>
                </a:solidFill>
                <a:latin typeface="DM Sans"/>
                <a:ea typeface="DM Sans"/>
                <a:cs typeface="DM Sans"/>
                <a:sym typeface="DM Sans"/>
              </a:rPr>
              <a:t>(including hash maps) are highly useful for key-value pairs, enabling efficient data lookup.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id="3" name="Freeform 3"/>
          <p:cNvSpPr/>
          <p:nvPr/>
        </p:nvSpPr>
        <p:spPr>
          <a:xfrm>
            <a:off x="-2329398" y="861489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6030709" y="9258300"/>
            <a:ext cx="3059829" cy="751049"/>
          </a:xfrm>
          <a:custGeom>
            <a:avLst/>
            <a:gdLst/>
            <a:ahLst/>
            <a:cxnLst/>
            <a:rect l="l" t="t" r="r" b="b"/>
            <a:pathLst>
              <a:path w="3059829" h="75104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215205"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6" name="Freeform 6"/>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a:off x="12686214" y="-2578193"/>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10138935"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a:off x="7409323" y="-2700100"/>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a:off x="4831481" y="-1626507"/>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sp>
      <p:sp>
        <p:nvSpPr>
          <p:cNvPr id="12" name="Freeform 12"/>
          <p:cNvSpPr/>
          <p:nvPr/>
        </p:nvSpPr>
        <p:spPr>
          <a:xfrm>
            <a:off x="17259300" y="2262342"/>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sp>
      <p:sp>
        <p:nvSpPr>
          <p:cNvPr id="13" name="Freeform 13"/>
          <p:cNvSpPr/>
          <p:nvPr/>
        </p:nvSpPr>
        <p:spPr>
          <a:xfrm>
            <a:off x="2570549" y="9093737"/>
            <a:ext cx="2587020" cy="2386526"/>
          </a:xfrm>
          <a:custGeom>
            <a:avLst/>
            <a:gdLst/>
            <a:ahLst/>
            <a:cxnLst/>
            <a:rect l="l" t="t" r="r" b="b"/>
            <a:pathLst>
              <a:path w="2587020" h="2386526">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sp>
      <p:sp>
        <p:nvSpPr>
          <p:cNvPr id="14" name="Freeform 14"/>
          <p:cNvSpPr/>
          <p:nvPr/>
        </p:nvSpPr>
        <p:spPr>
          <a:xfrm rot="-5282649">
            <a:off x="16440369" y="6970869"/>
            <a:ext cx="3382987" cy="1154444"/>
          </a:xfrm>
          <a:custGeom>
            <a:avLst/>
            <a:gdLst/>
            <a:ahLst/>
            <a:cxnLst/>
            <a:rect l="l" t="t" r="r" b="b"/>
            <a:pathLst>
              <a:path w="3382987" h="1154444">
                <a:moveTo>
                  <a:pt x="0" y="0"/>
                </a:moveTo>
                <a:lnTo>
                  <a:pt x="3382987" y="0"/>
                </a:lnTo>
                <a:lnTo>
                  <a:pt x="3382987"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sp>
      <p:sp>
        <p:nvSpPr>
          <p:cNvPr id="15" name="Freeform 15"/>
          <p:cNvSpPr/>
          <p:nvPr/>
        </p:nvSpPr>
        <p:spPr>
          <a:xfrm>
            <a:off x="16978638" y="-642644"/>
            <a:ext cx="3104522" cy="3342688"/>
          </a:xfrm>
          <a:custGeom>
            <a:avLst/>
            <a:gdLst/>
            <a:ahLst/>
            <a:cxnLst/>
            <a:rect l="l" t="t" r="r" b="b"/>
            <a:pathLst>
              <a:path w="3104522" h="3342688">
                <a:moveTo>
                  <a:pt x="0" y="0"/>
                </a:moveTo>
                <a:lnTo>
                  <a:pt x="3104522" y="0"/>
                </a:lnTo>
                <a:lnTo>
                  <a:pt x="3104522" y="3342688"/>
                </a:lnTo>
                <a:lnTo>
                  <a:pt x="0" y="3342688"/>
                </a:lnTo>
                <a:lnTo>
                  <a:pt x="0" y="0"/>
                </a:lnTo>
                <a:close/>
              </a:path>
            </a:pathLst>
          </a:custGeom>
          <a:blipFill>
            <a:blip r:embed="rId27">
              <a:extLst>
                <a:ext uri="{96DAC541-7B7A-43D3-8B79-37D633B846F1}">
                  <asvg:svgBlip xmlns:asvg="http://schemas.microsoft.com/office/drawing/2016/SVG/main" r:embed="rId28"/>
                </a:ext>
              </a:extLst>
            </a:blip>
            <a:stretch>
              <a:fillRect/>
            </a:stretch>
          </a:blipFill>
          <a:ln cap="sq">
            <a:noFill/>
            <a:prstDash val="solid"/>
            <a:miter/>
          </a:ln>
        </p:spPr>
      </p:sp>
      <p:sp>
        <p:nvSpPr>
          <p:cNvPr id="16" name="TextBox 16"/>
          <p:cNvSpPr txBox="1"/>
          <p:nvPr/>
        </p:nvSpPr>
        <p:spPr>
          <a:xfrm>
            <a:off x="3688802" y="3019867"/>
            <a:ext cx="10910396" cy="3364511"/>
          </a:xfrm>
          <a:prstGeom prst="rect">
            <a:avLst/>
          </a:prstGeom>
        </p:spPr>
        <p:txBody>
          <a:bodyPr lIns="0" tIns="0" rIns="0" bIns="0" rtlCol="0" anchor="t">
            <a:spAutoFit/>
          </a:bodyPr>
          <a:lstStyle/>
          <a:p>
            <a:pPr algn="ctr">
              <a:lnSpc>
                <a:spcPts val="12699"/>
              </a:lnSpc>
            </a:pPr>
            <a:r>
              <a:rPr lang="en-US" sz="14597" b="1">
                <a:solidFill>
                  <a:srgbClr val="000000"/>
                </a:solidFill>
                <a:latin typeface="DM Sans Bold"/>
                <a:ea typeface="DM Sans Bold"/>
                <a:cs typeface="DM Sans Bold"/>
                <a:sym typeface="DM Sans Bold"/>
              </a:rPr>
              <a:t>Thank you very much!</a:t>
            </a:r>
          </a:p>
        </p:txBody>
      </p:sp>
      <p:sp>
        <p:nvSpPr>
          <p:cNvPr id="17" name="TextBox 17"/>
          <p:cNvSpPr txBox="1"/>
          <p:nvPr/>
        </p:nvSpPr>
        <p:spPr>
          <a:xfrm>
            <a:off x="8026087" y="6337358"/>
            <a:ext cx="8459795" cy="525785"/>
          </a:xfrm>
          <a:prstGeom prst="rect">
            <a:avLst/>
          </a:prstGeom>
        </p:spPr>
        <p:txBody>
          <a:bodyPr lIns="0" tIns="0" rIns="0" bIns="0" rtlCol="0" anchor="t">
            <a:spAutoFit/>
          </a:bodyPr>
          <a:lstStyle/>
          <a:p>
            <a:pPr algn="ctr">
              <a:lnSpc>
                <a:spcPts val="4381"/>
              </a:lnSpc>
            </a:pPr>
            <a:r>
              <a:rPr lang="en-US" sz="2400" b="1" spc="-87" dirty="0">
                <a:solidFill>
                  <a:srgbClr val="000000"/>
                </a:solidFill>
                <a:latin typeface="DM Sans Bold"/>
                <a:ea typeface="DM Sans Bold"/>
                <a:cs typeface="DM Sans Bold"/>
                <a:sym typeface="DM Sans Bold"/>
              </a:rPr>
              <a:t>sathiyanr2003@gmail.com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944</TotalTime>
  <Words>732</Words>
  <Application>Microsoft Office PowerPoint</Application>
  <PresentationFormat>Custom</PresentationFormat>
  <Paragraphs>103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DM Sans Bold</vt:lpstr>
      <vt:lpstr>DM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Doodle Project Presentation</dc:title>
  <cp:lastModifiedBy>Arjun Prakash</cp:lastModifiedBy>
  <cp:revision>4</cp:revision>
  <dcterms:created xsi:type="dcterms:W3CDTF">2006-08-16T00:00:00Z</dcterms:created>
  <dcterms:modified xsi:type="dcterms:W3CDTF">2024-10-17T10:54:32Z</dcterms:modified>
  <dc:identifier>DAGTwwQ3sRA</dc:identifier>
</cp:coreProperties>
</file>